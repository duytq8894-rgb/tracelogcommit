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54864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10058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Synthesizable Instruction Tracer for CVA6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514600"/>
            <a:ext cx="10698480" cy="5486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000" b="0" i="0">
                <a:solidFill>
                  <a:srgbClr val="BFD2E8"/>
                </a:solidFill>
              </a:rPr>
              <a:t>Architecture  &amp;  Spike Co-Simulation Verification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3383280"/>
            <a:ext cx="10698480" cy="91440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450" b="0" i="0">
                <a:solidFill>
                  <a:srgbClr val="D8E2EF"/>
                </a:solidFill>
              </a:rPr>
              <a:t>instr_tracer_synth  —  a hardware-implementable re-creation of CVA6's simulation-only instr_tracer
that reproduces the exact riscv::spikeCommitLog() commit log using only synthesizable RTL.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5989320"/>
            <a:ext cx="10698480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0" i="0">
                <a:solidFill>
                  <a:srgbClr val="90A6C0"/>
                </a:solidFill>
              </a:rPr>
              <a:t>hardware/src/trace/  ·  ara  ·  CVA6 + Ara vector unit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/>
          <a:lstStyle/>
          <a:p>
            <a:pPr algn="ctr">
              <a:defRPr sz="2500" b="1">
                <a:solidFill>
                  <a:srgbClr val="FFFFFF"/>
                </a:solidFill>
              </a:defRPr>
            </a:pPr>
            <a:r>
              <a:t>Concept: split the problem on-chip / off-chip</a:t>
            </a:r>
          </a:p>
          <a:p>
            <a:pPr>
              <a:defRPr sz="1250">
                <a:solidFill>
                  <a:srgbClr val="C4D4E6"/>
                </a:solidFill>
              </a:defRPr>
            </a:pPr>
            <a:r>
              <a:t>Hardware cannot synthesize ASCII strings or file I/O — so the chip captures + packs; the host decodes.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4206240" cy="1554480"/>
          </a:xfrm>
          <a:prstGeom prst="roundRect">
            <a:avLst/>
          </a:prstGeom>
          <a:solidFill>
            <a:srgbClr val="DCEAFB"/>
          </a:solidFill>
          <a:ln w="19050">
            <a:solidFill>
              <a:srgbClr val="2E6D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1500" b="1">
                <a:solidFill>
                  <a:srgbClr val="1F3A5F"/>
                </a:solidFill>
              </a:rPr>
              <a:t>ON-CHIP  (synthesizable)</a:t>
            </a:r>
          </a:p>
          <a:p>
            <a:pPr algn="ctr">
              <a:spcBef>
                <a:spcPts val="100"/>
              </a:spcBef>
            </a:pPr>
            <a:r>
              <a:rPr sz="950">
                <a:solidFill>
                  <a:srgbClr val="404040"/>
                </a:solidFill>
              </a:rPr>
              <a:t>Capture retiring instructions at the</a:t>
            </a:r>
          </a:p>
          <a:p>
            <a:pPr algn="ctr">
              <a:spcBef>
                <a:spcPts val="100"/>
              </a:spcBef>
            </a:pPr>
            <a:r>
              <a:rPr sz="950">
                <a:solidFill>
                  <a:srgbClr val="404040"/>
                </a:solidFill>
              </a:rPr>
              <a:t>commit stage → pack into a fixed-</a:t>
            </a:r>
          </a:p>
          <a:p>
            <a:pPr algn="ctr">
              <a:spcBef>
                <a:spcPts val="100"/>
              </a:spcBef>
            </a:pPr>
            <a:r>
              <a:rPr sz="950">
                <a:solidFill>
                  <a:srgbClr val="404040"/>
                </a:solidFill>
              </a:rPr>
              <a:t>layout binary record + stream out</a:t>
            </a:r>
          </a:p>
          <a:p>
            <a:pPr algn="ctr">
              <a:spcBef>
                <a:spcPts val="100"/>
              </a:spcBef>
            </a:pPr>
            <a:r>
              <a:rPr sz="950">
                <a:solidFill>
                  <a:srgbClr val="404040"/>
                </a:solidFill>
              </a:rPr>
              <a:t>(instr_tracer_synth.sv)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0" y="1463040"/>
            <a:ext cx="4206240" cy="1554480"/>
          </a:xfrm>
          <a:prstGeom prst="roundRect">
            <a:avLst/>
          </a:prstGeom>
          <a:solidFill>
            <a:srgbClr val="FCE7CE"/>
          </a:solidFill>
          <a:ln w="19050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1500" b="1">
                <a:solidFill>
                  <a:srgbClr val="1F3A5F"/>
                </a:solidFill>
              </a:rPr>
              <a:t>OFF-CHIP  (host)</a:t>
            </a:r>
          </a:p>
          <a:p>
            <a:pPr algn="ctr">
              <a:spcBef>
                <a:spcPts val="100"/>
              </a:spcBef>
            </a:pPr>
            <a:r>
              <a:rPr sz="950">
                <a:solidFill>
                  <a:srgbClr val="404040"/>
                </a:solidFill>
              </a:rPr>
              <a:t>Decode the binary stream into</a:t>
            </a:r>
          </a:p>
          <a:p>
            <a:pPr algn="ctr">
              <a:spcBef>
                <a:spcPts val="100"/>
              </a:spcBef>
            </a:pPr>
            <a:r>
              <a:rPr sz="950">
                <a:solidFill>
                  <a:srgbClr val="404040"/>
                </a:solidFill>
              </a:rPr>
              <a:t>Spike-format ASCII commit log</a:t>
            </a:r>
          </a:p>
          <a:p>
            <a:pPr algn="ctr">
              <a:spcBef>
                <a:spcPts val="100"/>
              </a:spcBef>
            </a:pPr>
            <a:r>
              <a:rPr sz="950">
                <a:solidFill>
                  <a:srgbClr val="404040"/>
                </a:solidFill>
              </a:rPr>
              <a:t>(scripts/spike_trace_decode.py,</a:t>
            </a:r>
          </a:p>
          <a:p>
            <a:pPr algn="ctr">
              <a:spcBef>
                <a:spcPts val="100"/>
              </a:spcBef>
            </a:pPr>
            <a:r>
              <a:rPr sz="950">
                <a:solidFill>
                  <a:srgbClr val="404040"/>
                </a:solidFill>
              </a:rPr>
              <a:t>or the SystemVerilog sim sink)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846320" y="2240280"/>
            <a:ext cx="2468880" cy="0"/>
          </a:xfrm>
          <a:prstGeom prst="line">
            <a:avLst/>
          </a:prstGeom>
          <a:ln w="34925">
            <a:solidFill>
              <a:srgbClr val="2E6DB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754880" y="1874519"/>
            <a:ext cx="2651760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1100" b="1" i="0">
                <a:solidFill>
                  <a:srgbClr val="2E6DB4"/>
                </a:solidFill>
              </a:rPr>
              <a:t>binary records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29000"/>
            <a:ext cx="10972800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</a:rPr>
              <a:t>Non-synthesizable construct  →  synthesizable equivalent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3886200"/>
          <a:ext cx="108813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46320"/>
                <a:gridCol w="6035040"/>
              </a:tblGrid>
              <a:tr h="30861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simulation tracer (NOT synthesizable)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instr_tracer_synth (synthesizable)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04040"/>
                          </a:solidFill>
                          <a:latin typeface="Consolas"/>
                        </a:defRPr>
                      </a:pPr>
                      <a:r>
                        <a:t>SystemVerilog class / new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E6DB4"/>
                          </a:solidFill>
                          <a:latin typeface="Consolas"/>
                        </a:defRPr>
                      </a:pPr>
                      <a:r>
                        <a:t>packed struct  commit_log_pkt_t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04040"/>
                          </a:solidFill>
                          <a:latin typeface="Consolas"/>
                        </a:defRPr>
                      </a:pPr>
                      <a:r>
                        <a:t>dynamic queue  logic[..][$]</a:t>
                      </a:r>
                    </a:p>
                  </a:txBody>
                  <a:tcPr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E6DB4"/>
                          </a:solidFill>
                          <a:latin typeface="Consolas"/>
                        </a:defRPr>
                      </a:pPr>
                      <a:r>
                        <a:t>fixed-depth HW FIFO (fifo_v3 / addr_fifo)</a:t>
                      </a:r>
                    </a:p>
                  </a:txBody>
                  <a:tcPr>
                    <a:solidFill>
                      <a:srgbClr val="EEF3F9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04040"/>
                          </a:solidFill>
                          <a:latin typeface="Consolas"/>
                        </a:defRPr>
                      </a:pPr>
                      <a:r>
                        <a:t>string + $sformatf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E6DB4"/>
                          </a:solidFill>
                          <a:latin typeface="Consolas"/>
                        </a:defRPr>
                      </a:pPr>
                      <a:r>
                        <a:t>fixed-layout binary record (300 bit @XLEN=64)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04040"/>
                          </a:solidFill>
                          <a:latin typeface="Consolas"/>
                        </a:defRPr>
                      </a:pPr>
                      <a:r>
                        <a:t>$fopen / $fwrite / $fclose</a:t>
                      </a:r>
                    </a:p>
                  </a:txBody>
                  <a:tcPr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E6DB4"/>
                          </a:solidFill>
                          <a:latin typeface="Consolas"/>
                        </a:defRPr>
                      </a:pPr>
                      <a:r>
                        <a:t>ready / valid streaming port</a:t>
                      </a:r>
                    </a:p>
                  </a:txBody>
                  <a:tcPr>
                    <a:solidFill>
                      <a:srgbClr val="EEF3F9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04040"/>
                          </a:solidFill>
                          <a:latin typeface="Consolas"/>
                        </a:defRPr>
                      </a:pPr>
                      <a:r>
                        <a:t>interface + clocking block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E6DB4"/>
                          </a:solidFill>
                          <a:latin typeface="Consolas"/>
                        </a:defRPr>
                      </a:pPr>
                      <a:r>
                        <a:t>plain module ports (packed struct)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04040"/>
                          </a:solidFill>
                          <a:latin typeface="Consolas"/>
                        </a:defRPr>
                      </a:pPr>
                      <a:r>
                        <a:t>initial / forever / task</a:t>
                      </a:r>
                    </a:p>
                  </a:txBody>
                  <a:tcPr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E6DB4"/>
                          </a:solidFill>
                          <a:latin typeface="Consolas"/>
                        </a:defRPr>
                      </a:pPr>
                      <a:r>
                        <a:t>always_ff / always_comb</a:t>
                      </a:r>
                    </a:p>
                  </a:txBody>
                  <a:tcPr>
                    <a:solidFill>
                      <a:srgbClr val="EEF3F9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04040"/>
                          </a:solidFill>
                          <a:latin typeface="Consolas"/>
                        </a:defRPr>
                      </a:pPr>
                      <a:r>
                        <a:t>gp_reg_file / fp_reg_file shadow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E6DB4"/>
                          </a:solidFill>
                          <a:latin typeface="Consolas"/>
                        </a:defRPr>
                      </a:pPr>
                      <a:r>
                        <a:t>synthesizable gp/fp_reg_file_q[32]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/>
          <a:lstStyle/>
          <a:p>
            <a:pPr algn="ctr">
              <a:defRPr sz="2500" b="1">
                <a:solidFill>
                  <a:srgbClr val="FFFFFF"/>
                </a:solidFill>
              </a:defRPr>
            </a:pPr>
            <a:r>
              <a:t>Module pinout  —  every input / output pin</a:t>
            </a:r>
          </a:p>
          <a:p>
            <a:pPr>
              <a:defRPr sz="1250">
                <a:solidFill>
                  <a:srgbClr val="C4D4E6"/>
                </a:solidFill>
              </a:defRPr>
            </a:pPr>
            <a:r>
              <a:t>4 input groups (left) feed the tracer; the ready/valid trace-out port (right) streams packed beats.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tr_tracer_synth_pin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393267" cy="54406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172200" y="1143000"/>
            <a:ext cx="5715000" cy="841248"/>
          </a:xfrm>
          <a:prstGeom prst="roundRect">
            <a:avLst/>
          </a:prstGeom>
          <a:solidFill>
            <a:srgbClr val="ECECEC"/>
          </a:solidFill>
          <a:ln w="19050">
            <a:solidFill>
              <a:srgbClr val="6A6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/>
            <a:r>
              <a:rPr sz="1200" b="1">
                <a:solidFill>
                  <a:srgbClr val="1F3A5F"/>
                </a:solidFill>
              </a:rPr>
              <a:t>CLOCK / RESET / CONTROL    (4 in)</a:t>
            </a:r>
          </a:p>
          <a:p>
            <a:pPr algn="l">
              <a:spcBef>
                <a:spcPts val="100"/>
              </a:spcBef>
            </a:pPr>
            <a:r>
              <a:rPr sz="1000">
                <a:solidFill>
                  <a:srgbClr val="404040"/>
                </a:solidFill>
                <a:latin typeface="Consolas"/>
              </a:rPr>
              <a:t>clk_i · rst_ni · flush_i · testmode_i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2103120"/>
            <a:ext cx="5715000" cy="1170432"/>
          </a:xfrm>
          <a:prstGeom prst="roundRect">
            <a:avLst/>
          </a:prstGeom>
          <a:solidFill>
            <a:srgbClr val="DCEAFB"/>
          </a:solidFill>
          <a:ln w="19050">
            <a:solidFill>
              <a:srgbClr val="2E6D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/>
            <a:r>
              <a:rPr sz="1200" b="1">
                <a:solidFill>
                  <a:srgbClr val="1F3A5F"/>
                </a:solidFill>
              </a:rPr>
              <a:t>COMMIT-STAGE OBSERVATION    (10 in)</a:t>
            </a:r>
          </a:p>
          <a:p>
            <a:pPr algn="l">
              <a:spcBef>
                <a:spcPts val="100"/>
              </a:spcBef>
            </a:pPr>
            <a:r>
              <a:rPr sz="1000">
                <a:solidFill>
                  <a:srgbClr val="404040"/>
                </a:solidFill>
                <a:latin typeface="Consolas"/>
              </a:rPr>
              <a:t>commit_instr_i · commit_ack_i · instr_word_i</a:t>
            </a:r>
          </a:p>
          <a:p>
            <a:pPr algn="l">
              <a:spcBef>
                <a:spcPts val="100"/>
              </a:spcBef>
            </a:pPr>
            <a:r>
              <a:rPr sz="1000">
                <a:solidFill>
                  <a:srgbClr val="404040"/>
                </a:solidFill>
                <a:latin typeface="Consolas"/>
              </a:rPr>
              <a:t>waddr_i · wdata_i · we_gpr_i · we_fpr_i</a:t>
            </a:r>
          </a:p>
          <a:p>
            <a:pPr algn="l">
              <a:spcBef>
                <a:spcPts val="100"/>
              </a:spcBef>
            </a:pPr>
            <a:r>
              <a:rPr sz="1000">
                <a:solidFill>
                  <a:srgbClr val="404040"/>
                </a:solidFill>
                <a:latin typeface="Consolas"/>
              </a:rPr>
              <a:t>priv_lvl_i · debug_mode_i · exception_i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3392424"/>
            <a:ext cx="5715000" cy="914400"/>
          </a:xfrm>
          <a:prstGeom prst="roundRect">
            <a:avLst/>
          </a:prstGeom>
          <a:solidFill>
            <a:srgbClr val="EEE6F7"/>
          </a:solidFill>
          <a:ln w="19050">
            <a:solidFill>
              <a:srgbClr val="7846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/>
            <a:r>
              <a:rPr sz="1200" b="1">
                <a:solidFill>
                  <a:srgbClr val="1F3A5F"/>
                </a:solidFill>
              </a:rPr>
              <a:t>CSR WRITE OBSERVATION    (5 in)</a:t>
            </a:r>
          </a:p>
          <a:p>
            <a:pPr algn="l">
              <a:spcBef>
                <a:spcPts val="100"/>
              </a:spcBef>
            </a:pPr>
            <a:r>
              <a:rPr sz="1000">
                <a:solidFill>
                  <a:srgbClr val="404040"/>
                </a:solidFill>
                <a:latin typeface="Consolas"/>
              </a:rPr>
              <a:t>csr_commit_i · csr_op_i · csr_waddr_i</a:t>
            </a:r>
          </a:p>
          <a:p>
            <a:pPr algn="l">
              <a:spcBef>
                <a:spcPts val="100"/>
              </a:spcBef>
            </a:pPr>
            <a:r>
              <a:rPr sz="1000">
                <a:solidFill>
                  <a:srgbClr val="404040"/>
                </a:solidFill>
                <a:latin typeface="Consolas"/>
              </a:rPr>
              <a:t>csr_operand_i · csr_old_i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4425696"/>
            <a:ext cx="5715000" cy="914400"/>
          </a:xfrm>
          <a:prstGeom prst="roundRect">
            <a:avLst/>
          </a:prstGeom>
          <a:solidFill>
            <a:srgbClr val="FCEEDC"/>
          </a:solidFill>
          <a:ln w="19050">
            <a:solidFill>
              <a:srgbClr val="C476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/>
            <a:r>
              <a:rPr sz="1200" b="1">
                <a:solidFill>
                  <a:srgbClr val="1F3A5F"/>
                </a:solidFill>
              </a:rPr>
              <a:t>LSU MEMORY-ACCESS OBSERVATION    (9 in)</a:t>
            </a:r>
          </a:p>
          <a:p>
            <a:pPr algn="l">
              <a:spcBef>
                <a:spcPts val="100"/>
              </a:spcBef>
            </a:pPr>
            <a:r>
              <a:rPr sz="1000">
                <a:solidFill>
                  <a:srgbClr val="404040"/>
                </a:solidFill>
                <a:latin typeface="Consolas"/>
              </a:rPr>
              <a:t>st_valid/paddr/data/size_i</a:t>
            </a:r>
          </a:p>
          <a:p>
            <a:pPr algn="l">
              <a:spcBef>
                <a:spcPts val="100"/>
              </a:spcBef>
            </a:pPr>
            <a:r>
              <a:rPr sz="1000">
                <a:solidFill>
                  <a:srgbClr val="404040"/>
                </a:solidFill>
                <a:latin typeface="Consolas"/>
              </a:rPr>
              <a:t>ld_valid/kill/paddr/size_i · flush_addr_i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5458968"/>
            <a:ext cx="5715000" cy="914400"/>
          </a:xfrm>
          <a:prstGeom prst="roundRect">
            <a:avLst/>
          </a:prstGeom>
          <a:solidFill>
            <a:srgbClr val="D9F0D3"/>
          </a:solidFill>
          <a:ln w="19050">
            <a:solidFill>
              <a:srgbClr val="4C9A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/>
            <a:r>
              <a:rPr sz="1200" b="1">
                <a:solidFill>
                  <a:srgbClr val="1F3A5F"/>
                </a:solidFill>
              </a:rPr>
              <a:t>STREAMING TRACE-OUT    (3 out + 1 in)</a:t>
            </a:r>
          </a:p>
          <a:p>
            <a:pPr algn="l">
              <a:spcBef>
                <a:spcPts val="100"/>
              </a:spcBef>
            </a:pPr>
            <a:r>
              <a:rPr sz="1000">
                <a:solidFill>
                  <a:srgbClr val="404040"/>
                </a:solidFill>
                <a:latin typeface="Consolas"/>
              </a:rPr>
              <a:t>trace_valid_o · trace_beat_o · overflow_o    (out)</a:t>
            </a:r>
          </a:p>
          <a:p>
            <a:pPr algn="l">
              <a:spcBef>
                <a:spcPts val="100"/>
              </a:spcBef>
            </a:pPr>
            <a:r>
              <a:rPr sz="1000">
                <a:solidFill>
                  <a:srgbClr val="404040"/>
                </a:solidFill>
                <a:latin typeface="Consolas"/>
              </a:rPr>
              <a:t>trace_ready_i    (in, back-pressure)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/>
          <a:lstStyle/>
          <a:p>
            <a:pPr algn="ctr">
              <a:defRPr sz="2500" b="1">
                <a:solidFill>
                  <a:srgbClr val="FFFFFF"/>
                </a:solidFill>
              </a:defRPr>
            </a:pPr>
            <a:r>
              <a:t>Internal microarchitecture  —  the beat builder &amp; its two memories</a:t>
            </a:r>
          </a:p>
          <a:p>
            <a:pPr>
              <a:defRPr sz="1250">
                <a:solidFill>
                  <a:srgbClr val="C4D4E6"/>
                </a:solidFill>
              </a:defRPr>
            </a:pPr>
            <a:r>
              <a:t>One combinational beat builder reads the live commit signals + two on-chip memories; a FIFO then streams the result out.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897880"/>
            <a:ext cx="237744" cy="237744"/>
          </a:xfrm>
          <a:prstGeom prst="roundRect">
            <a:avLst/>
          </a:prstGeom>
          <a:solidFill>
            <a:srgbClr val="E9ECF1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5879592"/>
            <a:ext cx="2377440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input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59636" y="5897880"/>
            <a:ext cx="237744" cy="237744"/>
          </a:xfrm>
          <a:prstGeom prst="roundRect">
            <a:avLst/>
          </a:prstGeom>
          <a:solidFill>
            <a:srgbClr val="FCEFD9"/>
          </a:solidFill>
          <a:ln w="15875">
            <a:solidFill>
              <a:srgbClr val="C476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52243" y="5879592"/>
            <a:ext cx="2377440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memory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5204" y="5897880"/>
            <a:ext cx="237744" cy="237744"/>
          </a:xfrm>
          <a:prstGeom prst="roundRect">
            <a:avLst/>
          </a:prstGeom>
          <a:solidFill>
            <a:srgbClr val="C9DEF7"/>
          </a:solidFill>
          <a:ln w="15875">
            <a:solidFill>
              <a:srgbClr val="2E6D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7812" y="5879592"/>
            <a:ext cx="2377440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beat builder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078992"/>
            <a:ext cx="2468880" cy="868680"/>
          </a:xfrm>
          <a:prstGeom prst="roundRect">
            <a:avLst/>
          </a:prstGeom>
          <a:solidFill>
            <a:srgbClr val="E9ECF1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1250" b="1">
                <a:solidFill>
                  <a:srgbClr val="1F3A5F"/>
                </a:solidFill>
              </a:rPr>
              <a:t>Write-back bus</a:t>
            </a:r>
          </a:p>
          <a:p>
            <a:pPr algn="ctr">
              <a:spcBef>
                <a:spcPts val="100"/>
              </a:spcBef>
            </a:pPr>
            <a:r>
              <a:rPr sz="950">
                <a:solidFill>
                  <a:srgbClr val="404040"/>
                </a:solidFill>
                <a:latin typeface="Consolas"/>
              </a:rPr>
              <a:t>waddr · wdata</a:t>
            </a:r>
          </a:p>
          <a:p>
            <a:pPr algn="ctr">
              <a:spcBef>
                <a:spcPts val="100"/>
              </a:spcBef>
            </a:pPr>
            <a:r>
              <a:rPr sz="950">
                <a:solidFill>
                  <a:srgbClr val="404040"/>
                </a:solidFill>
                <a:latin typeface="Consolas"/>
              </a:rPr>
              <a:t>we_gpr / we_fpr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078992"/>
            <a:ext cx="3319272" cy="868680"/>
          </a:xfrm>
          <a:prstGeom prst="roundRect">
            <a:avLst/>
          </a:prstGeom>
          <a:solidFill>
            <a:srgbClr val="E9ECF1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1250" b="1">
                <a:solidFill>
                  <a:srgbClr val="1F3A5F"/>
                </a:solidFill>
              </a:rPr>
              <a:t>commit-stage signals</a:t>
            </a:r>
          </a:p>
          <a:p>
            <a:pPr algn="ctr">
              <a:spcBef>
                <a:spcPts val="100"/>
              </a:spcBef>
            </a:pPr>
            <a:r>
              <a:rPr sz="950">
                <a:solidFill>
                  <a:srgbClr val="404040"/>
                </a:solidFill>
                <a:latin typeface="Consolas"/>
              </a:rPr>
              <a:t>commit_instr · instr_word · commit_ack</a:t>
            </a:r>
          </a:p>
          <a:p>
            <a:pPr algn="ctr">
              <a:spcBef>
                <a:spcPts val="100"/>
              </a:spcBef>
            </a:pPr>
            <a:r>
              <a:rPr sz="950">
                <a:solidFill>
                  <a:srgbClr val="404040"/>
                </a:solidFill>
                <a:latin typeface="Consolas"/>
              </a:rPr>
              <a:t>priv · debug · exception_i · csr_*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98280" y="1078992"/>
            <a:ext cx="2468880" cy="868680"/>
          </a:xfrm>
          <a:prstGeom prst="roundRect">
            <a:avLst/>
          </a:prstGeom>
          <a:solidFill>
            <a:srgbClr val="E9ECF1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1250" b="1">
                <a:solidFill>
                  <a:srgbClr val="1F3A5F"/>
                </a:solidFill>
              </a:rPr>
              <a:t>LSU addresses</a:t>
            </a:r>
          </a:p>
          <a:p>
            <a:pPr algn="ctr">
              <a:spcBef>
                <a:spcPts val="100"/>
              </a:spcBef>
            </a:pPr>
            <a:r>
              <a:rPr sz="950">
                <a:solidFill>
                  <a:srgbClr val="404040"/>
                </a:solidFill>
                <a:latin typeface="Consolas"/>
              </a:rPr>
              <a:t>st_valid/paddr/data/size</a:t>
            </a:r>
          </a:p>
          <a:p>
            <a:pPr algn="ctr">
              <a:spcBef>
                <a:spcPts val="100"/>
              </a:spcBef>
            </a:pPr>
            <a:r>
              <a:rPr sz="950">
                <a:solidFill>
                  <a:srgbClr val="404040"/>
                </a:solidFill>
                <a:latin typeface="Consolas"/>
              </a:rPr>
              <a:t>ld_valid/kill/paddr/size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331720"/>
            <a:ext cx="2468880" cy="1783080"/>
          </a:xfrm>
          <a:prstGeom prst="roundRect">
            <a:avLst/>
          </a:prstGeom>
          <a:solidFill>
            <a:srgbClr val="FCEFD9"/>
          </a:solidFill>
          <a:ln w="19050">
            <a:solidFill>
              <a:srgbClr val="C476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1400" b="1">
                <a:solidFill>
                  <a:srgbClr val="1F3A5F"/>
                </a:solidFill>
              </a:rPr>
              <a:t>Shadow regfile</a:t>
            </a:r>
          </a:p>
          <a:p>
            <a:pPr algn="ctr">
              <a:spcBef>
                <a:spcPts val="100"/>
              </a:spcBef>
            </a:pPr>
            <a:r>
              <a:rPr sz="950">
                <a:solidFill>
                  <a:srgbClr val="404040"/>
                </a:solidFill>
              </a:rPr>
              <a:t>gp / fp_reg_file_q[32]</a:t>
            </a:r>
          </a:p>
          <a:p>
            <a:pPr algn="ctr">
              <a:spcBef>
                <a:spcPts val="100"/>
              </a:spcBef>
            </a:pPr>
            <a:r>
              <a:rPr sz="950">
                <a:solidFill>
                  <a:srgbClr val="404040"/>
                </a:solidFill>
              </a:rPr>
              <a:t>always_ff</a:t>
            </a:r>
          </a:p>
          <a:p>
            <a:pPr algn="ctr">
              <a:spcBef>
                <a:spcPts val="100"/>
              </a:spcBef>
            </a:pPr>
            <a:r>
              <a:rPr sz="950">
                <a:solidFill>
                  <a:srgbClr val="404040"/>
                </a:solidFill>
              </a:rPr>
              <a:t/>
            </a:r>
          </a:p>
          <a:p>
            <a:pPr algn="ctr">
              <a:spcBef>
                <a:spcPts val="100"/>
              </a:spcBef>
            </a:pPr>
            <a:r>
              <a:rPr sz="950">
                <a:solidFill>
                  <a:srgbClr val="404040"/>
                </a:solidFill>
              </a:rPr>
              <a:t>recovers rd's value when</a:t>
            </a:r>
          </a:p>
          <a:p>
            <a:pPr algn="ctr">
              <a:spcBef>
                <a:spcPts val="100"/>
              </a:spcBef>
            </a:pPr>
            <a:r>
              <a:rPr sz="950">
                <a:solidFill>
                  <a:srgbClr val="404040"/>
                </a:solidFill>
              </a:rPr>
              <a:t>it isn't on the write-back</a:t>
            </a:r>
          </a:p>
          <a:p>
            <a:pPr algn="ctr">
              <a:spcBef>
                <a:spcPts val="100"/>
              </a:spcBef>
            </a:pPr>
            <a:r>
              <a:rPr sz="950">
                <a:solidFill>
                  <a:srgbClr val="404040"/>
                </a:solidFill>
              </a:rPr>
              <a:t>bus this cycle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0" y="2240280"/>
            <a:ext cx="3044952" cy="2057400"/>
          </a:xfrm>
          <a:prstGeom prst="roundRect">
            <a:avLst/>
          </a:prstGeom>
          <a:solidFill>
            <a:srgbClr val="C9DEF7"/>
          </a:solidFill>
          <a:ln w="19050">
            <a:solidFill>
              <a:srgbClr val="2E6D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1500" b="1">
                <a:solidFill>
                  <a:srgbClr val="1F3A5F"/>
                </a:solidFill>
              </a:rPr>
              <a:t>BEAT  BUILDER</a:t>
            </a:r>
          </a:p>
          <a:p>
            <a:pPr algn="ctr">
              <a:spcBef>
                <a:spcPts val="100"/>
              </a:spcBef>
            </a:pPr>
            <a:r>
              <a:rPr sz="950">
                <a:solidFill>
                  <a:srgbClr val="404040"/>
                </a:solidFill>
              </a:rPr>
              <a:t>always_comb</a:t>
            </a:r>
          </a:p>
          <a:p>
            <a:pPr algn="ctr">
              <a:spcBef>
                <a:spcPts val="100"/>
              </a:spcBef>
            </a:pPr>
            <a:r>
              <a:rPr sz="950">
                <a:solidFill>
                  <a:srgbClr val="404040"/>
                </a:solidFill>
              </a:rPr>
              <a:t/>
            </a:r>
          </a:p>
          <a:p>
            <a:pPr algn="ctr">
              <a:spcBef>
                <a:spcPts val="100"/>
              </a:spcBef>
            </a:pPr>
            <a:r>
              <a:rPr sz="950">
                <a:solidFill>
                  <a:srgbClr val="404040"/>
                </a:solidFill>
              </a:rPr>
              <a:t>per-port packet:</a:t>
            </a:r>
          </a:p>
          <a:p>
            <a:pPr algn="ctr">
              <a:spcBef>
                <a:spcPts val="100"/>
              </a:spcBef>
            </a:pPr>
            <a:r>
              <a:rPr sz="950">
                <a:solidFill>
                  <a:srgbClr val="404040"/>
                </a:solidFill>
              </a:rPr>
              <a:t>priv·pc·instr·rd·we·wdata</a:t>
            </a:r>
          </a:p>
          <a:p>
            <a:pPr algn="ctr">
              <a:spcBef>
                <a:spcPts val="100"/>
              </a:spcBef>
            </a:pPr>
            <a:r>
              <a:rPr sz="950">
                <a:solidFill>
                  <a:srgbClr val="404040"/>
                </a:solidFill>
              </a:rPr>
              <a:t>compressed · retired · mem</a:t>
            </a:r>
          </a:p>
          <a:p>
            <a:pPr algn="ctr">
              <a:spcBef>
                <a:spcPts val="100"/>
              </a:spcBef>
            </a:pPr>
            <a:r>
              <a:rPr sz="950">
                <a:solidFill>
                  <a:srgbClr val="404040"/>
                </a:solidFill>
              </a:rPr>
              <a:t/>
            </a:r>
          </a:p>
          <a:p>
            <a:pPr algn="ctr">
              <a:spcBef>
                <a:spcPts val="100"/>
              </a:spcBef>
            </a:pPr>
            <a:r>
              <a:rPr sz="950">
                <a:solidFill>
                  <a:srgbClr val="404040"/>
                </a:solidFill>
              </a:rPr>
              <a:t>port-0 overrides:  exception · CSR</a:t>
            </a:r>
          </a:p>
          <a:p>
            <a:pPr algn="ctr">
              <a:spcBef>
                <a:spcPts val="100"/>
              </a:spcBef>
            </a:pPr>
            <a:r>
              <a:rPr sz="950">
                <a:solidFill>
                  <a:srgbClr val="404040"/>
                </a:solidFill>
              </a:rPr>
              <a:t/>
            </a:r>
          </a:p>
          <a:p>
            <a:pPr algn="ctr">
              <a:spcBef>
                <a:spcPts val="100"/>
              </a:spcBef>
            </a:pPr>
            <a:r>
              <a:rPr sz="950">
                <a:solidFill>
                  <a:srgbClr val="404040"/>
                </a:solidFill>
              </a:rPr>
              <a:t>→  commit_log_beat_t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98280" y="2331720"/>
            <a:ext cx="2468880" cy="1783080"/>
          </a:xfrm>
          <a:prstGeom prst="roundRect">
            <a:avLst/>
          </a:prstGeom>
          <a:solidFill>
            <a:srgbClr val="FCEFD9"/>
          </a:solidFill>
          <a:ln w="19050">
            <a:solidFill>
              <a:srgbClr val="C476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1400" b="1">
                <a:solidFill>
                  <a:srgbClr val="1F3A5F"/>
                </a:solidFill>
              </a:rPr>
              <a:t>Address FIFOs</a:t>
            </a:r>
          </a:p>
          <a:p>
            <a:pPr algn="ctr">
              <a:spcBef>
                <a:spcPts val="100"/>
              </a:spcBef>
            </a:pPr>
            <a:r>
              <a:rPr sz="950">
                <a:solidFill>
                  <a:srgbClr val="404040"/>
                </a:solidFill>
              </a:rPr>
              <a:t>store + load · depth 16</a:t>
            </a:r>
          </a:p>
          <a:p>
            <a:pPr algn="ctr">
              <a:spcBef>
                <a:spcPts val="100"/>
              </a:spcBef>
            </a:pPr>
            <a:r>
              <a:rPr sz="950">
                <a:solidFill>
                  <a:srgbClr val="404040"/>
                </a:solidFill>
              </a:rPr>
              <a:t>+ byte_ror64</a:t>
            </a:r>
          </a:p>
          <a:p>
            <a:pPr algn="ctr">
              <a:spcBef>
                <a:spcPts val="100"/>
              </a:spcBef>
            </a:pPr>
            <a:r>
              <a:rPr sz="950">
                <a:solidFill>
                  <a:srgbClr val="404040"/>
                </a:solidFill>
              </a:rPr>
              <a:t/>
            </a:r>
          </a:p>
          <a:p>
            <a:pPr algn="ctr">
              <a:spcBef>
                <a:spcPts val="100"/>
              </a:spcBef>
            </a:pPr>
            <a:r>
              <a:rPr sz="950">
                <a:solidFill>
                  <a:srgbClr val="404040"/>
                </a:solidFill>
              </a:rPr>
              <a:t>realign LSU addresses</a:t>
            </a:r>
          </a:p>
          <a:p>
            <a:pPr algn="ctr">
              <a:spcBef>
                <a:spcPts val="100"/>
              </a:spcBef>
            </a:pPr>
            <a:r>
              <a:rPr sz="950">
                <a:solidFill>
                  <a:srgbClr val="404040"/>
                </a:solidFill>
              </a:rPr>
              <a:t>to commit order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874519" y="1947672"/>
            <a:ext cx="0" cy="384048"/>
          </a:xfrm>
          <a:prstGeom prst="line">
            <a:avLst/>
          </a:prstGeom>
          <a:ln w="25400">
            <a:solidFill>
              <a:srgbClr val="40404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094476" y="1947672"/>
            <a:ext cx="0" cy="292608"/>
          </a:xfrm>
          <a:prstGeom prst="line">
            <a:avLst/>
          </a:prstGeom>
          <a:ln w="30480">
            <a:solidFill>
              <a:srgbClr val="2E6DB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332720" y="1947672"/>
            <a:ext cx="0" cy="384048"/>
          </a:xfrm>
          <a:prstGeom prst="line">
            <a:avLst/>
          </a:prstGeom>
          <a:ln w="25400">
            <a:solidFill>
              <a:srgbClr val="40404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108960" y="3063240"/>
            <a:ext cx="1463040" cy="0"/>
          </a:xfrm>
          <a:prstGeom prst="line">
            <a:avLst/>
          </a:prstGeom>
          <a:ln w="27940">
            <a:solidFill>
              <a:srgbClr val="C4761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108960" y="2761488"/>
            <a:ext cx="1463040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1000" b="1" i="0">
                <a:solidFill>
                  <a:srgbClr val="C4761C"/>
                </a:solidFill>
              </a:rPr>
              <a:t>reg[rd]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7616952" y="3063240"/>
            <a:ext cx="1481328" cy="0"/>
          </a:xfrm>
          <a:prstGeom prst="line">
            <a:avLst/>
          </a:prstGeom>
          <a:ln w="27940">
            <a:solidFill>
              <a:srgbClr val="C4761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616952" y="2761488"/>
            <a:ext cx="1481328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900" b="1" i="0">
                <a:solidFill>
                  <a:srgbClr val="C4761C"/>
                </a:solidFill>
              </a:rPr>
              <a:t>mem addr / data / size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616952" y="3703320"/>
            <a:ext cx="1481328" cy="0"/>
          </a:xfrm>
          <a:prstGeom prst="line">
            <a:avLst/>
          </a:prstGeom>
          <a:ln w="22225">
            <a:solidFill>
              <a:srgbClr val="40404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616952" y="3730752"/>
            <a:ext cx="1481328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</a:rPr>
              <a:t>pop @ commit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0" y="4572000"/>
            <a:ext cx="3044952" cy="777240"/>
          </a:xfrm>
          <a:prstGeom prst="roundRect">
            <a:avLst/>
          </a:prstGeom>
          <a:solidFill>
            <a:srgbClr val="DCEAFB"/>
          </a:solidFill>
          <a:ln w="19050">
            <a:solidFill>
              <a:srgbClr val="2E6D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1400" b="1">
                <a:solidFill>
                  <a:srgbClr val="1F3A5F"/>
                </a:solidFill>
              </a:rPr>
              <a:t>Trace FIFO</a:t>
            </a:r>
          </a:p>
          <a:p>
            <a:pPr algn="ctr">
              <a:spcBef>
                <a:spcPts val="100"/>
              </a:spcBef>
            </a:pPr>
            <a:r>
              <a:rPr sz="950">
                <a:solidFill>
                  <a:srgbClr val="404040"/>
                </a:solidFill>
              </a:rPr>
              <a:t>fifo_v3 · depth 32   ·   push = |valid &amp; ~full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0" y="5577840"/>
            <a:ext cx="3044952" cy="777240"/>
          </a:xfrm>
          <a:prstGeom prst="roundRect">
            <a:avLst/>
          </a:prstGeom>
          <a:solidFill>
            <a:srgbClr val="DCEAFB"/>
          </a:solidFill>
          <a:ln w="19050">
            <a:solidFill>
              <a:srgbClr val="2E6D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1400" b="1">
                <a:solidFill>
                  <a:srgbClr val="1F3A5F"/>
                </a:solidFill>
              </a:rPr>
              <a:t>Trace-out port</a:t>
            </a:r>
          </a:p>
          <a:p>
            <a:pPr algn="ctr">
              <a:spcBef>
                <a:spcPts val="100"/>
              </a:spcBef>
            </a:pPr>
            <a:r>
              <a:rPr sz="850">
                <a:solidFill>
                  <a:srgbClr val="404040"/>
                </a:solidFill>
              </a:rPr>
              <a:t>ready / valid   ·   trace_valid_o · trace_beat_o · trace_ready_i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12480" y="4572000"/>
            <a:ext cx="2560320" cy="777240"/>
          </a:xfrm>
          <a:prstGeom prst="roundRect">
            <a:avLst/>
          </a:prstGeom>
          <a:solidFill>
            <a:srgbClr val="FDDDD6"/>
          </a:solidFill>
          <a:ln w="19050">
            <a:solidFill>
              <a:srgbClr val="C8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1300" b="1">
                <a:solidFill>
                  <a:srgbClr val="1F3A5F"/>
                </a:solidFill>
              </a:rPr>
              <a:t>overflow_o</a:t>
            </a:r>
          </a:p>
          <a:p>
            <a:pPr algn="ctr">
              <a:spcBef>
                <a:spcPts val="100"/>
              </a:spcBef>
            </a:pPr>
            <a:r>
              <a:rPr sz="950">
                <a:solidFill>
                  <a:srgbClr val="404040"/>
                </a:solidFill>
              </a:rPr>
              <a:t>FIFO full → trace gap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094476" y="4297680"/>
            <a:ext cx="0" cy="274320"/>
          </a:xfrm>
          <a:prstGeom prst="line">
            <a:avLst/>
          </a:prstGeom>
          <a:ln w="33020">
            <a:solidFill>
              <a:srgbClr val="2E6DB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094476" y="5349240"/>
            <a:ext cx="0" cy="228600"/>
          </a:xfrm>
          <a:prstGeom prst="line">
            <a:avLst/>
          </a:prstGeom>
          <a:ln w="33020">
            <a:solidFill>
              <a:srgbClr val="2E6DB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616952" y="4956048"/>
            <a:ext cx="795528" cy="0"/>
          </a:xfrm>
          <a:prstGeom prst="line">
            <a:avLst/>
          </a:prstGeom>
          <a:ln w="22225">
            <a:solidFill>
              <a:srgbClr val="C84A3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616952" y="4663440"/>
            <a:ext cx="795528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900" b="1" i="0">
                <a:solidFill>
                  <a:srgbClr val="C84A33"/>
                </a:solidFill>
              </a:rPr>
              <a:t>full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/>
          <a:lstStyle/>
          <a:p>
            <a:pPr algn="ctr">
              <a:defRPr sz="2500" b="1">
                <a:solidFill>
                  <a:srgbClr val="FFFFFF"/>
                </a:solidFill>
              </a:defRPr>
            </a:pPr>
            <a:r>
              <a:t>Detailed datapath  —  sub-blocks &amp; signals</a:t>
            </a:r>
          </a:p>
          <a:p>
            <a:pPr>
              <a:defRPr sz="1250">
                <a:solidFill>
                  <a:srgbClr val="C4D4E6"/>
                </a:solidFill>
              </a:defRPr>
            </a:pPr>
            <a:r>
              <a:t>Same flanked-builder view, zoomed in: value recovery on the left, memory re-alignment on the right, block-by-block.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4320" y="1170432"/>
            <a:ext cx="237744" cy="237744"/>
          </a:xfrm>
          <a:prstGeom prst="roundRect">
            <a:avLst/>
          </a:prstGeom>
          <a:solidFill>
            <a:srgbClr val="ECEEF2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152144"/>
            <a:ext cx="2377440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input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93876" y="1170432"/>
            <a:ext cx="237744" cy="237744"/>
          </a:xfrm>
          <a:prstGeom prst="roundRect">
            <a:avLst/>
          </a:prstGeom>
          <a:solidFill>
            <a:srgbClr val="FCEFD9"/>
          </a:solidFill>
          <a:ln w="15875">
            <a:solidFill>
              <a:srgbClr val="C476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86484" y="1152144"/>
            <a:ext cx="2377440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memory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09444" y="1170432"/>
            <a:ext cx="237744" cy="237744"/>
          </a:xfrm>
          <a:prstGeom prst="roundRect">
            <a:avLst/>
          </a:prstGeom>
          <a:solidFill>
            <a:srgbClr val="DCEAFB"/>
          </a:solidFill>
          <a:ln w="15875">
            <a:solidFill>
              <a:srgbClr val="2E6D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02051" y="1152144"/>
            <a:ext cx="2377440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logic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1170432"/>
            <a:ext cx="237744" cy="237744"/>
          </a:xfrm>
          <a:prstGeom prst="roundRect">
            <a:avLst/>
          </a:prstGeom>
          <a:solidFill>
            <a:srgbClr val="C9DEF7"/>
          </a:solidFill>
          <a:ln w="15875">
            <a:solidFill>
              <a:srgbClr val="2E6D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21608" y="1152144"/>
            <a:ext cx="2377440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beat builder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74920" y="1920240"/>
            <a:ext cx="2057400" cy="2560320"/>
          </a:xfrm>
          <a:prstGeom prst="roundRect">
            <a:avLst/>
          </a:prstGeom>
          <a:solidFill>
            <a:srgbClr val="C9DEF7"/>
          </a:solidFill>
          <a:ln w="19050">
            <a:solidFill>
              <a:srgbClr val="2E6D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1300" b="1">
                <a:solidFill>
                  <a:srgbClr val="1F3A5F"/>
                </a:solidFill>
              </a:rPr>
              <a:t>BEAT  BUILDER</a:t>
            </a:r>
          </a:p>
          <a:p>
            <a:pPr algn="ctr">
              <a:spcBef>
                <a:spcPts val="100"/>
              </a:spcBef>
            </a:pPr>
            <a:r>
              <a:rPr sz="850">
                <a:solidFill>
                  <a:srgbClr val="404040"/>
                </a:solidFill>
              </a:rPr>
              <a:t>always_comb</a:t>
            </a:r>
          </a:p>
          <a:p>
            <a:pPr algn="ctr">
              <a:spcBef>
                <a:spcPts val="100"/>
              </a:spcBef>
            </a:pPr>
            <a:r>
              <a:rPr sz="850">
                <a:solidFill>
                  <a:srgbClr val="404040"/>
                </a:solidFill>
              </a:rPr>
              <a:t/>
            </a:r>
          </a:p>
          <a:p>
            <a:pPr algn="ctr">
              <a:spcBef>
                <a:spcPts val="100"/>
              </a:spcBef>
            </a:pPr>
            <a:r>
              <a:rPr sz="850">
                <a:solidFill>
                  <a:srgbClr val="404040"/>
                </a:solidFill>
              </a:rPr>
              <a:t>builds beat.pkt[p]</a:t>
            </a:r>
          </a:p>
          <a:p>
            <a:pPr algn="ctr">
              <a:spcBef>
                <a:spcPts val="100"/>
              </a:spcBef>
            </a:pPr>
            <a:r>
              <a:rPr sz="850">
                <a:solidFill>
                  <a:srgbClr val="404040"/>
                </a:solidFill>
              </a:rPr>
              <a:t>for both ports</a:t>
            </a:r>
          </a:p>
          <a:p>
            <a:pPr algn="ctr">
              <a:spcBef>
                <a:spcPts val="100"/>
              </a:spcBef>
            </a:pPr>
            <a:r>
              <a:rPr sz="850">
                <a:solidFill>
                  <a:srgbClr val="404040"/>
                </a:solidFill>
              </a:rPr>
              <a:t>+ port-0</a:t>
            </a:r>
          </a:p>
          <a:p>
            <a:pPr algn="ctr">
              <a:spcBef>
                <a:spcPts val="100"/>
              </a:spcBef>
            </a:pPr>
            <a:r>
              <a:rPr sz="850">
                <a:solidFill>
                  <a:srgbClr val="404040"/>
                </a:solidFill>
              </a:rPr>
              <a:t>exception / CSR</a:t>
            </a:r>
          </a:p>
          <a:p>
            <a:pPr algn="ctr">
              <a:spcBef>
                <a:spcPts val="100"/>
              </a:spcBef>
            </a:pPr>
            <a:r>
              <a:rPr sz="850">
                <a:solidFill>
                  <a:srgbClr val="404040"/>
                </a:solidFill>
              </a:rPr>
              <a:t/>
            </a:r>
          </a:p>
          <a:p>
            <a:pPr algn="ctr">
              <a:spcBef>
                <a:spcPts val="100"/>
              </a:spcBef>
            </a:pPr>
            <a:r>
              <a:rPr sz="850">
                <a:solidFill>
                  <a:srgbClr val="404040"/>
                </a:solidFill>
              </a:rPr>
              <a:t>drives</a:t>
            </a:r>
          </a:p>
          <a:p>
            <a:pPr algn="ctr">
              <a:spcBef>
                <a:spcPts val="100"/>
              </a:spcBef>
            </a:pPr>
            <a:r>
              <a:rPr sz="850">
                <a:solidFill>
                  <a:srgbClr val="404040"/>
                </a:solidFill>
              </a:rPr>
              <a:t>st_pop / ld_pop</a:t>
            </a:r>
          </a:p>
          <a:p>
            <a:pPr algn="ctr">
              <a:spcBef>
                <a:spcPts val="100"/>
              </a:spcBef>
            </a:pPr>
            <a:r>
              <a:rPr sz="850">
                <a:solidFill>
                  <a:srgbClr val="404040"/>
                </a:solidFill>
              </a:rPr>
              <a:t/>
            </a:r>
          </a:p>
          <a:p>
            <a:pPr algn="ctr">
              <a:spcBef>
                <a:spcPts val="100"/>
              </a:spcBef>
            </a:pPr>
            <a:r>
              <a:rPr sz="850">
                <a:solidFill>
                  <a:srgbClr val="404040"/>
                </a:solidFill>
              </a:rPr>
              <a:t>beat.valid =</a:t>
            </a:r>
          </a:p>
          <a:p>
            <a:pPr algn="ctr">
              <a:spcBef>
                <a:spcPts val="100"/>
              </a:spcBef>
            </a:pPr>
            <a:r>
              <a:rPr sz="850">
                <a:solidFill>
                  <a:srgbClr val="404040"/>
                </a:solidFill>
              </a:rPr>
              <a:t>  commit_ack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0" y="1005840"/>
            <a:ext cx="2697480" cy="749808"/>
          </a:xfrm>
          <a:prstGeom prst="roundRect">
            <a:avLst/>
          </a:prstGeom>
          <a:solidFill>
            <a:srgbClr val="ECEEF2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1050" b="1">
                <a:solidFill>
                  <a:srgbClr val="1F3A5F"/>
                </a:solidFill>
              </a:rPr>
              <a:t>commit-stage signals</a:t>
            </a:r>
          </a:p>
          <a:p>
            <a:pPr algn="ctr">
              <a:spcBef>
                <a:spcPts val="100"/>
              </a:spcBef>
            </a:pPr>
            <a:r>
              <a:rPr sz="780">
                <a:solidFill>
                  <a:srgbClr val="404040"/>
                </a:solidFill>
                <a:latin typeface="Consolas"/>
              </a:rPr>
              <a:t>commit_instr · instr_word · priv · debug</a:t>
            </a:r>
          </a:p>
          <a:p>
            <a:pPr algn="ctr">
              <a:spcBef>
                <a:spcPts val="100"/>
              </a:spcBef>
            </a:pPr>
            <a:r>
              <a:rPr sz="780">
                <a:solidFill>
                  <a:srgbClr val="404040"/>
                </a:solidFill>
                <a:latin typeface="Consolas"/>
              </a:rPr>
              <a:t>exception_i · csr_*   (→ port 0)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103620" y="1755648"/>
            <a:ext cx="0" cy="164592"/>
          </a:xfrm>
          <a:prstGeom prst="line">
            <a:avLst/>
          </a:prstGeom>
          <a:ln w="27940">
            <a:solidFill>
              <a:srgbClr val="2E6DB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74320" y="2331720"/>
            <a:ext cx="1417320" cy="868680"/>
          </a:xfrm>
          <a:prstGeom prst="roundRect">
            <a:avLst/>
          </a:prstGeom>
          <a:solidFill>
            <a:srgbClr val="ECEEF2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950" b="1">
                <a:solidFill>
                  <a:srgbClr val="1F3A5F"/>
                </a:solidFill>
              </a:rPr>
              <a:t>Write-back bus</a:t>
            </a:r>
          </a:p>
          <a:p>
            <a:pPr algn="ctr">
              <a:spcBef>
                <a:spcPts val="100"/>
              </a:spcBef>
            </a:pPr>
            <a:r>
              <a:rPr sz="760">
                <a:solidFill>
                  <a:srgbClr val="404040"/>
                </a:solidFill>
                <a:latin typeface="Consolas"/>
              </a:rPr>
              <a:t>we_gpr_i / we_fpr_i</a:t>
            </a:r>
          </a:p>
          <a:p>
            <a:pPr algn="ctr">
              <a:spcBef>
                <a:spcPts val="100"/>
              </a:spcBef>
            </a:pPr>
            <a:r>
              <a:rPr sz="760">
                <a:solidFill>
                  <a:srgbClr val="404040"/>
                </a:solidFill>
                <a:latin typeface="Consolas"/>
              </a:rPr>
              <a:t>waddr_i · wdata_i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10512" y="2331720"/>
            <a:ext cx="1508760" cy="868680"/>
          </a:xfrm>
          <a:prstGeom prst="roundRect">
            <a:avLst/>
          </a:prstGeom>
          <a:solidFill>
            <a:srgbClr val="FCEFD9"/>
          </a:solidFill>
          <a:ln w="19050">
            <a:solidFill>
              <a:srgbClr val="C476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950" b="1">
                <a:solidFill>
                  <a:srgbClr val="1F3A5F"/>
                </a:solidFill>
              </a:rPr>
              <a:t>Shadow GP/FP regfile</a:t>
            </a:r>
          </a:p>
          <a:p>
            <a:pPr algn="ctr">
              <a:spcBef>
                <a:spcPts val="100"/>
              </a:spcBef>
            </a:pPr>
            <a:r>
              <a:rPr sz="780">
                <a:solidFill>
                  <a:srgbClr val="404040"/>
                </a:solidFill>
              </a:rPr>
              <a:t>gp/fp_reg_file_q[32]</a:t>
            </a:r>
          </a:p>
          <a:p>
            <a:pPr algn="ctr">
              <a:spcBef>
                <a:spcPts val="100"/>
              </a:spcBef>
            </a:pPr>
            <a:r>
              <a:rPr sz="780">
                <a:solidFill>
                  <a:srgbClr val="404040"/>
                </a:solidFill>
              </a:rPr>
              <a:t>always_ff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56432" y="2286000"/>
            <a:ext cx="1298448" cy="960120"/>
          </a:xfrm>
          <a:prstGeom prst="roundRect">
            <a:avLst/>
          </a:prstGeom>
          <a:solidFill>
            <a:srgbClr val="DCEAFB"/>
          </a:solidFill>
          <a:ln w="19050">
            <a:solidFill>
              <a:srgbClr val="2E6D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950" b="1">
                <a:solidFill>
                  <a:srgbClr val="1F3A5F"/>
                </a:solidFill>
              </a:rPr>
              <a:t>Result MUX</a:t>
            </a:r>
          </a:p>
          <a:p>
            <a:pPr algn="ctr">
              <a:spcBef>
                <a:spcPts val="100"/>
              </a:spcBef>
            </a:pPr>
            <a:r>
              <a:rPr sz="760">
                <a:solidFill>
                  <a:srgbClr val="404040"/>
                </a:solidFill>
                <a:latin typeface="Consolas"/>
              </a:rPr>
              <a:t>we ? wdata_i</a:t>
            </a:r>
          </a:p>
          <a:p>
            <a:pPr algn="ctr">
              <a:spcBef>
                <a:spcPts val="100"/>
              </a:spcBef>
            </a:pPr>
            <a:r>
              <a:rPr sz="760">
                <a:solidFill>
                  <a:srgbClr val="404040"/>
                </a:solidFill>
                <a:latin typeface="Consolas"/>
              </a:rPr>
              <a:t> : rd_fpr ? fp[rd]</a:t>
            </a:r>
          </a:p>
          <a:p>
            <a:pPr algn="ctr">
              <a:spcBef>
                <a:spcPts val="100"/>
              </a:spcBef>
            </a:pPr>
            <a:r>
              <a:rPr sz="760">
                <a:solidFill>
                  <a:srgbClr val="404040"/>
                </a:solidFill>
                <a:latin typeface="Consolas"/>
              </a:rPr>
              <a:t> :          gp[rd]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691640" y="2761488"/>
            <a:ext cx="118872" cy="0"/>
          </a:xfrm>
          <a:prstGeom prst="line">
            <a:avLst/>
          </a:prstGeom>
          <a:ln w="25400">
            <a:solidFill>
              <a:srgbClr val="40404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319272" y="2761488"/>
            <a:ext cx="137160" cy="0"/>
          </a:xfrm>
          <a:prstGeom prst="line">
            <a:avLst/>
          </a:prstGeom>
          <a:ln w="25400">
            <a:solidFill>
              <a:srgbClr val="40404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862072" y="2432304"/>
            <a:ext cx="914400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750" b="0" i="0">
                <a:solidFill>
                  <a:srgbClr val="C4761C"/>
                </a:solidFill>
              </a:rPr>
              <a:t>reg[rd]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754880" y="2761488"/>
            <a:ext cx="320040" cy="27432"/>
          </a:xfrm>
          <a:prstGeom prst="line">
            <a:avLst/>
          </a:prstGeom>
          <a:ln w="25400">
            <a:solidFill>
              <a:srgbClr val="2E6DB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434840" y="2414016"/>
            <a:ext cx="914400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800" b="0" i="0">
                <a:solidFill>
                  <a:srgbClr val="2E6DB4"/>
                </a:solidFill>
              </a:rPr>
              <a:t>result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3310128"/>
            <a:ext cx="4572000" cy="4114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950" b="0" i="1">
                <a:solidFill>
                  <a:srgbClr val="2E6DB4"/>
                </a:solidFill>
              </a:rPr>
              <a:t>→ recovers rd's committed value when it is not on the write-back bus this cycle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52360" y="2331720"/>
            <a:ext cx="1234440" cy="868680"/>
          </a:xfrm>
          <a:prstGeom prst="roundRect">
            <a:avLst/>
          </a:prstGeom>
          <a:solidFill>
            <a:srgbClr val="DCEAFB"/>
          </a:solidFill>
          <a:ln w="19050">
            <a:solidFill>
              <a:srgbClr val="2E6D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950" b="1">
                <a:solidFill>
                  <a:srgbClr val="1F3A5F"/>
                </a:solidFill>
              </a:rPr>
              <a:t>byte_ror64</a:t>
            </a:r>
          </a:p>
          <a:p>
            <a:pPr algn="ctr">
              <a:spcBef>
                <a:spcPts val="100"/>
              </a:spcBef>
            </a:pPr>
            <a:r>
              <a:rPr sz="760">
                <a:solidFill>
                  <a:srgbClr val="404040"/>
                </a:solidFill>
              </a:rPr>
              <a:t>undo data_align</a:t>
            </a:r>
          </a:p>
          <a:p>
            <a:pPr algn="ctr">
              <a:spcBef>
                <a:spcPts val="100"/>
              </a:spcBef>
            </a:pPr>
            <a:r>
              <a:rPr sz="760">
                <a:solidFill>
                  <a:srgbClr val="404040"/>
                </a:solidFill>
              </a:rPr>
              <a:t>(rotate right)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23960" y="2331720"/>
            <a:ext cx="1554480" cy="868680"/>
          </a:xfrm>
          <a:prstGeom prst="roundRect">
            <a:avLst/>
          </a:prstGeom>
          <a:solidFill>
            <a:srgbClr val="FCEFD9"/>
          </a:solidFill>
          <a:ln w="19050">
            <a:solidFill>
              <a:srgbClr val="C476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900" b="1">
                <a:solidFill>
                  <a:srgbClr val="1F3A5F"/>
                </a:solidFill>
              </a:rPr>
              <a:t>Store addr FIFO</a:t>
            </a:r>
          </a:p>
          <a:p>
            <a:pPr algn="ctr">
              <a:spcBef>
                <a:spcPts val="100"/>
              </a:spcBef>
            </a:pPr>
            <a:r>
              <a:rPr sz="780">
                <a:solidFill>
                  <a:srgbClr val="404040"/>
                </a:solidFill>
              </a:rPr>
              <a:t>addr_fifo · depth 16</a:t>
            </a:r>
          </a:p>
          <a:p>
            <a:pPr algn="ctr">
              <a:spcBef>
                <a:spcPts val="100"/>
              </a:spcBef>
            </a:pPr>
            <a:r>
              <a:rPr sz="780">
                <a:solidFill>
                  <a:srgbClr val="404040"/>
                </a:solidFill>
              </a:rPr>
              <a:t>pop 0 / 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515600" y="2331720"/>
            <a:ext cx="1371600" cy="868680"/>
          </a:xfrm>
          <a:prstGeom prst="roundRect">
            <a:avLst/>
          </a:prstGeom>
          <a:solidFill>
            <a:srgbClr val="ECEEF2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900" b="1">
                <a:solidFill>
                  <a:srgbClr val="1F3A5F"/>
                </a:solidFill>
              </a:rPr>
              <a:t>Store gen (LSU)</a:t>
            </a:r>
          </a:p>
          <a:p>
            <a:pPr algn="ctr">
              <a:spcBef>
                <a:spcPts val="100"/>
              </a:spcBef>
            </a:pPr>
            <a:r>
              <a:rPr sz="740">
                <a:solidFill>
                  <a:srgbClr val="404040"/>
                </a:solidFill>
                <a:latin typeface="Consolas"/>
              </a:rPr>
              <a:t>st_valid_i</a:t>
            </a:r>
          </a:p>
          <a:p>
            <a:pPr algn="ctr">
              <a:spcBef>
                <a:spcPts val="100"/>
              </a:spcBef>
            </a:pPr>
            <a:r>
              <a:rPr sz="740">
                <a:solidFill>
                  <a:srgbClr val="404040"/>
                </a:solidFill>
                <a:latin typeface="Consolas"/>
              </a:rPr>
              <a:t>st_paddr/data/size_i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10378440" y="2761488"/>
            <a:ext cx="137160" cy="0"/>
          </a:xfrm>
          <a:prstGeom prst="line">
            <a:avLst/>
          </a:prstGeom>
          <a:ln w="25400">
            <a:solidFill>
              <a:srgbClr val="40404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8686800" y="2761488"/>
            <a:ext cx="137160" cy="0"/>
          </a:xfrm>
          <a:prstGeom prst="line">
            <a:avLst/>
          </a:prstGeom>
          <a:ln w="25400">
            <a:solidFill>
              <a:srgbClr val="40404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321040" y="2432304"/>
            <a:ext cx="914400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700" b="0" i="0">
                <a:solidFill>
                  <a:srgbClr val="C4761C"/>
                </a:solidFill>
              </a:rPr>
              <a:t>dout0.data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7132320" y="2788920"/>
            <a:ext cx="320040" cy="0"/>
          </a:xfrm>
          <a:prstGeom prst="line">
            <a:avLst/>
          </a:prstGeom>
          <a:ln w="25400">
            <a:solidFill>
              <a:srgbClr val="C4761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903720" y="2414016"/>
            <a:ext cx="914400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800" b="0" i="0">
                <a:solidFill>
                  <a:srgbClr val="C4761C"/>
                </a:solidFill>
              </a:rPr>
              <a:t>mem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823960" y="3429000"/>
            <a:ext cx="1554480" cy="868680"/>
          </a:xfrm>
          <a:prstGeom prst="roundRect">
            <a:avLst/>
          </a:prstGeom>
          <a:solidFill>
            <a:srgbClr val="FCEFD9"/>
          </a:solidFill>
          <a:ln w="19050">
            <a:solidFill>
              <a:srgbClr val="C476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900" b="1">
                <a:solidFill>
                  <a:srgbClr val="1F3A5F"/>
                </a:solidFill>
              </a:rPr>
              <a:t>Load addr FIFO</a:t>
            </a:r>
          </a:p>
          <a:p>
            <a:pPr algn="ctr">
              <a:spcBef>
                <a:spcPts val="100"/>
              </a:spcBef>
            </a:pPr>
            <a:r>
              <a:rPr sz="760">
                <a:solidFill>
                  <a:srgbClr val="404040"/>
                </a:solidFill>
              </a:rPr>
              <a:t>addr_fifo · depth 16</a:t>
            </a:r>
          </a:p>
          <a:p>
            <a:pPr algn="ctr">
              <a:spcBef>
                <a:spcPts val="100"/>
              </a:spcBef>
            </a:pPr>
            <a:r>
              <a:rPr sz="760">
                <a:solidFill>
                  <a:srgbClr val="404040"/>
                </a:solidFill>
              </a:rPr>
              <a:t>pop 0..2 · data0/1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515600" y="3429000"/>
            <a:ext cx="1371600" cy="868680"/>
          </a:xfrm>
          <a:prstGeom prst="roundRect">
            <a:avLst/>
          </a:prstGeom>
          <a:solidFill>
            <a:srgbClr val="ECEEF2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900" b="1">
                <a:solidFill>
                  <a:srgbClr val="1F3A5F"/>
                </a:solidFill>
              </a:rPr>
              <a:t>Load gen (LSU)</a:t>
            </a:r>
          </a:p>
          <a:p>
            <a:pPr algn="ctr">
              <a:spcBef>
                <a:spcPts val="100"/>
              </a:spcBef>
            </a:pPr>
            <a:r>
              <a:rPr sz="720">
                <a:solidFill>
                  <a:srgbClr val="404040"/>
                </a:solidFill>
                <a:latin typeface="Consolas"/>
              </a:rPr>
              <a:t>ld_valid_i &amp; ~ld_kill_i</a:t>
            </a:r>
          </a:p>
          <a:p>
            <a:pPr algn="ctr">
              <a:spcBef>
                <a:spcPts val="100"/>
              </a:spcBef>
            </a:pPr>
            <a:r>
              <a:rPr sz="720">
                <a:solidFill>
                  <a:srgbClr val="404040"/>
                </a:solidFill>
                <a:latin typeface="Consolas"/>
              </a:rPr>
              <a:t>ld_paddr/size_i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10378440" y="3858768"/>
            <a:ext cx="137160" cy="0"/>
          </a:xfrm>
          <a:prstGeom prst="line">
            <a:avLst/>
          </a:prstGeom>
          <a:ln w="25400">
            <a:solidFill>
              <a:srgbClr val="40404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 flipV="1">
            <a:off x="7132320" y="3840480"/>
            <a:ext cx="1691640" cy="18288"/>
          </a:xfrm>
          <a:prstGeom prst="line">
            <a:avLst/>
          </a:prstGeom>
          <a:ln w="25400">
            <a:solidFill>
              <a:srgbClr val="C4761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269480" y="3493008"/>
            <a:ext cx="1554480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750" b="0" i="0">
                <a:solidFill>
                  <a:srgbClr val="C4761C"/>
                </a:solidFill>
              </a:rPr>
              <a:t>ld_dout0/1 → mem_addr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23760" y="4389120"/>
            <a:ext cx="4754880" cy="4114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950" b="0" i="1">
                <a:solidFill>
                  <a:srgbClr val="2E6DB4"/>
                </a:solidFill>
              </a:rPr>
              <a:t>→ FIFOs realign out-of-order LSU addresses; popped at commit by st_pop / ld_pop (0..2)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846320" y="4800600"/>
            <a:ext cx="2514600" cy="777240"/>
          </a:xfrm>
          <a:prstGeom prst="roundRect">
            <a:avLst/>
          </a:prstGeom>
          <a:solidFill>
            <a:srgbClr val="DCEAFB"/>
          </a:solidFill>
          <a:ln w="19050">
            <a:solidFill>
              <a:srgbClr val="2E6D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1200" b="1">
                <a:solidFill>
                  <a:srgbClr val="1F3A5F"/>
                </a:solidFill>
              </a:rPr>
              <a:t>Trace FIFO</a:t>
            </a:r>
          </a:p>
          <a:p>
            <a:pPr algn="ctr">
              <a:spcBef>
                <a:spcPts val="100"/>
              </a:spcBef>
            </a:pPr>
            <a:r>
              <a:rPr sz="800">
                <a:solidFill>
                  <a:srgbClr val="404040"/>
                </a:solidFill>
              </a:rPr>
              <a:t>fifo_v3 · depth 32</a:t>
            </a:r>
          </a:p>
          <a:p>
            <a:pPr algn="ctr">
              <a:spcBef>
                <a:spcPts val="100"/>
              </a:spcBef>
            </a:pPr>
            <a:r>
              <a:rPr sz="800">
                <a:solidFill>
                  <a:srgbClr val="404040"/>
                </a:solidFill>
              </a:rPr>
              <a:t>push=|valid&amp;~full · pop=valid&amp;ready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846320" y="5806440"/>
            <a:ext cx="2514600" cy="777240"/>
          </a:xfrm>
          <a:prstGeom prst="roundRect">
            <a:avLst/>
          </a:prstGeom>
          <a:solidFill>
            <a:srgbClr val="DCEAFB"/>
          </a:solidFill>
          <a:ln w="19050">
            <a:solidFill>
              <a:srgbClr val="2E6D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1200" b="1">
                <a:solidFill>
                  <a:srgbClr val="1F3A5F"/>
                </a:solidFill>
              </a:rPr>
              <a:t>Trace-out port</a:t>
            </a:r>
          </a:p>
          <a:p>
            <a:pPr algn="ctr">
              <a:spcBef>
                <a:spcPts val="100"/>
              </a:spcBef>
            </a:pPr>
            <a:r>
              <a:rPr sz="800">
                <a:solidFill>
                  <a:srgbClr val="404040"/>
                </a:solidFill>
              </a:rPr>
              <a:t>trace_valid_o=~empty (out) · trace_beat_o (out)</a:t>
            </a:r>
          </a:p>
          <a:p>
            <a:pPr algn="ctr">
              <a:spcBef>
                <a:spcPts val="100"/>
              </a:spcBef>
            </a:pPr>
            <a:r>
              <a:rPr sz="800">
                <a:solidFill>
                  <a:srgbClr val="404040"/>
                </a:solidFill>
              </a:rPr>
              <a:t>trace_ready_i (in)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863840" y="4800600"/>
            <a:ext cx="2468880" cy="777240"/>
          </a:xfrm>
          <a:prstGeom prst="roundRect">
            <a:avLst/>
          </a:prstGeom>
          <a:solidFill>
            <a:srgbClr val="FDDDD6"/>
          </a:solidFill>
          <a:ln w="19050">
            <a:solidFill>
              <a:srgbClr val="C8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1150" b="1">
                <a:solidFill>
                  <a:srgbClr val="1F3A5F"/>
                </a:solidFill>
              </a:rPr>
              <a:t>overflow_o   (out)</a:t>
            </a:r>
          </a:p>
          <a:p>
            <a:pPr algn="ctr">
              <a:spcBef>
                <a:spcPts val="100"/>
              </a:spcBef>
            </a:pPr>
            <a:r>
              <a:rPr sz="850">
                <a:solidFill>
                  <a:srgbClr val="404040"/>
                </a:solidFill>
              </a:rPr>
              <a:t>(any_valid &amp; full)</a:t>
            </a:r>
          </a:p>
          <a:p>
            <a:pPr algn="ctr">
              <a:spcBef>
                <a:spcPts val="100"/>
              </a:spcBef>
            </a:pPr>
            <a:r>
              <a:rPr sz="850">
                <a:solidFill>
                  <a:srgbClr val="404040"/>
                </a:solidFill>
              </a:rPr>
              <a:t>| st/ld of | uf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103620" y="4480560"/>
            <a:ext cx="0" cy="320040"/>
          </a:xfrm>
          <a:prstGeom prst="line">
            <a:avLst/>
          </a:prstGeom>
          <a:ln w="33020">
            <a:solidFill>
              <a:srgbClr val="2E6DB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6103620" y="5577840"/>
            <a:ext cx="0" cy="228600"/>
          </a:xfrm>
          <a:prstGeom prst="line">
            <a:avLst/>
          </a:prstGeom>
          <a:ln w="33020">
            <a:solidFill>
              <a:srgbClr val="2E6DB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7360920" y="5184648"/>
            <a:ext cx="502920" cy="0"/>
          </a:xfrm>
          <a:prstGeom prst="line">
            <a:avLst/>
          </a:prstGeom>
          <a:ln w="22225">
            <a:solidFill>
              <a:srgbClr val="C84A3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7360920" y="4901184"/>
            <a:ext cx="502920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850" b="1" i="0">
                <a:solidFill>
                  <a:srgbClr val="C84A33"/>
                </a:solidFill>
              </a:rPr>
              <a:t>full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/>
          <a:lstStyle/>
          <a:p>
            <a:pPr algn="ctr">
              <a:defRPr sz="2500" b="1">
                <a:solidFill>
                  <a:srgbClr val="FFFFFF"/>
                </a:solidFill>
              </a:defRPr>
            </a:pPr>
            <a:r>
              <a:t>What goes into one trace record  &amp;  the 3 packing rules</a:t>
            </a:r>
          </a:p>
          <a:p>
            <a:pPr>
              <a:defRPr sz="1250">
                <a:solidFill>
                  <a:srgbClr val="C4D4E6"/>
                </a:solidFill>
              </a:defRPr>
            </a:pPr>
            <a:r>
              <a:t>Each retired instruction becomes a packed commit_log_pkt_t; two of them form a beat (program order kept).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5394960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</a:rPr>
              <a:t>One beat  =  commit_log_beat_t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08760"/>
            <a:ext cx="5257800" cy="713232"/>
          </a:xfrm>
          <a:prstGeom prst="roundRect">
            <a:avLst/>
          </a:prstGeom>
          <a:solidFill>
            <a:srgbClr val="E9ECF1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1250" b="1">
                <a:solidFill>
                  <a:srgbClr val="1F3A5F"/>
                </a:solidFill>
              </a:rPr>
              <a:t>commit_log_beat_t</a:t>
            </a:r>
          </a:p>
          <a:p>
            <a:pPr algn="ctr">
              <a:spcBef>
                <a:spcPts val="100"/>
              </a:spcBef>
            </a:pPr>
            <a:r>
              <a:rPr sz="950">
                <a:solidFill>
                  <a:srgbClr val="404040"/>
                </a:solidFill>
                <a:latin typeface="Consolas"/>
              </a:rPr>
              <a:t>valid[NR_COMMIT_PORTS]   +   2 × commit_log_pkt_t   (port 0 = older)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108960" y="2221992"/>
            <a:ext cx="0" cy="265176"/>
          </a:xfrm>
          <a:prstGeom prst="line">
            <a:avLst/>
          </a:prstGeom>
          <a:ln w="25400">
            <a:solidFill>
              <a:srgbClr val="1F3A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2542032"/>
          <a:ext cx="5257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886200"/>
              </a:tblGrid>
              <a:tr h="457200"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</a:defRPr>
                      </a:pPr>
                      <a:r>
                        <a:t>group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</a:defRPr>
                      </a:pPr>
                      <a:r>
                        <a:t>fields of commit_log_pkt_t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F3A5F"/>
                          </a:solidFill>
                        </a:defRPr>
                      </a:pPr>
                      <a:r>
                        <a:t>Identity</a:t>
                      </a:r>
                    </a:p>
                  </a:txBody>
                  <a:tcPr>
                    <a:solidFill>
                      <a:srgbClr val="DCE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404040"/>
                          </a:solidFill>
                          <a:latin typeface="Consolas"/>
                        </a:defRPr>
                      </a:pPr>
                      <a:r>
                        <a:t>priv · debug · retired · compressed · rd (+rd_fpr) · pc · instr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F3A5F"/>
                          </a:solidFill>
                        </a:defRPr>
                      </a:pPr>
                      <a:r>
                        <a:t>Result</a:t>
                      </a:r>
                    </a:p>
                  </a:txBody>
                  <a:tcPr>
                    <a:solidFill>
                      <a:srgbClr val="DCE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404040"/>
                          </a:solidFill>
                          <a:latin typeface="Consolas"/>
                        </a:defRPr>
                      </a:pPr>
                      <a:r>
                        <a:t>we · wdata</a:t>
                      </a:r>
                    </a:p>
                  </a:txBody>
                  <a:tcPr>
                    <a:solidFill>
                      <a:srgbClr val="EEF3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F3A5F"/>
                          </a:solidFill>
                        </a:defRPr>
                      </a:pPr>
                      <a:r>
                        <a:t>Exception</a:t>
                      </a:r>
                    </a:p>
                  </a:txBody>
                  <a:tcPr>
                    <a:solidFill>
                      <a:srgbClr val="DCE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404040"/>
                          </a:solidFill>
                          <a:latin typeface="Consolas"/>
                        </a:defRPr>
                      </a:pPr>
                      <a:r>
                        <a:t>ex_valid · cause · tval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F3A5F"/>
                          </a:solidFill>
                        </a:defRPr>
                      </a:pPr>
                      <a:r>
                        <a:t>Memory</a:t>
                      </a:r>
                    </a:p>
                  </a:txBody>
                  <a:tcPr>
                    <a:solidFill>
                      <a:srgbClr val="DCE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404040"/>
                          </a:solidFill>
                          <a:latin typeface="Consolas"/>
                        </a:defRPr>
                      </a:pPr>
                      <a:r>
                        <a:t>mem_op · mem_addr · mem_data · mem_size</a:t>
                      </a:r>
                    </a:p>
                  </a:txBody>
                  <a:tcPr>
                    <a:solidFill>
                      <a:srgbClr val="EEF3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F3A5F"/>
                          </a:solidFill>
                        </a:defRPr>
                      </a:pPr>
                      <a:r>
                        <a:t>CSR write</a:t>
                      </a:r>
                    </a:p>
                  </a:txBody>
                  <a:tcPr>
                    <a:solidFill>
                      <a:srgbClr val="DCE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404040"/>
                          </a:solidFill>
                          <a:latin typeface="Consolas"/>
                        </a:defRPr>
                      </a:pPr>
                      <a:r>
                        <a:t>csr_we · csr_addr · csr_wdata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5440680"/>
            <a:ext cx="5257800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050" b="0" i="1">
                <a:solidFill>
                  <a:srgbClr val="404040"/>
                </a:solidFill>
              </a:rPr>
              <a:t>300 bits @ XLEN=64  ·  packed MSB-first in declaration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097280"/>
            <a:ext cx="5577840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</a:rPr>
              <a:t>How each field is filled  —  3 rules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536192"/>
            <a:ext cx="5577840" cy="1188720"/>
          </a:xfrm>
          <a:prstGeom prst="roundRect">
            <a:avLst/>
          </a:prstGeom>
          <a:solidFill>
            <a:srgbClr val="DCEAFB"/>
          </a:solidFill>
          <a:ln w="19050">
            <a:solidFill>
              <a:srgbClr val="2E6D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/>
            <a:r>
              <a:rPr sz="1250" b="1">
                <a:solidFill>
                  <a:srgbClr val="1F3A5F"/>
                </a:solidFill>
              </a:rPr>
              <a:t>Rule 1   Result value  (a 3-way mux)</a:t>
            </a:r>
          </a:p>
          <a:p>
            <a:pPr algn="l">
              <a:spcBef>
                <a:spcPts val="100"/>
              </a:spcBef>
            </a:pPr>
            <a:r>
              <a:rPr sz="969">
                <a:solidFill>
                  <a:srgbClr val="404040"/>
                </a:solidFill>
                <a:latin typeface="Consolas"/>
              </a:rPr>
              <a:t>we_gpr | we_fpr  →  wdata_i   (written this cycle)</a:t>
            </a:r>
          </a:p>
          <a:p>
            <a:pPr algn="l">
              <a:spcBef>
                <a:spcPts val="100"/>
              </a:spcBef>
            </a:pPr>
            <a:r>
              <a:rPr sz="969">
                <a:solidFill>
                  <a:srgbClr val="404040"/>
                </a:solidFill>
                <a:latin typeface="Consolas"/>
              </a:rPr>
              <a:t>else rd is FPR   →  fp_reg_file_q[rd]</a:t>
            </a:r>
          </a:p>
          <a:p>
            <a:pPr algn="l">
              <a:spcBef>
                <a:spcPts val="100"/>
              </a:spcBef>
            </a:pPr>
            <a:r>
              <a:rPr sz="969">
                <a:solidFill>
                  <a:srgbClr val="404040"/>
                </a:solidFill>
                <a:latin typeface="Consolas"/>
              </a:rPr>
              <a:t>else             →  gp_reg_file_q[rd]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2852928"/>
            <a:ext cx="5577840" cy="1417320"/>
          </a:xfrm>
          <a:prstGeom prst="roundRect">
            <a:avLst/>
          </a:prstGeom>
          <a:solidFill>
            <a:srgbClr val="DCEAFB"/>
          </a:solidFill>
          <a:ln w="19050">
            <a:solidFill>
              <a:srgbClr val="2E6D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/>
            <a:r>
              <a:rPr sz="1250" b="1">
                <a:solidFill>
                  <a:srgbClr val="1F3A5F"/>
                </a:solidFill>
              </a:rPr>
              <a:t>Rule 2   Memory token  ( “mem 0x..” )</a:t>
            </a:r>
          </a:p>
          <a:p>
            <a:pPr algn="l">
              <a:spcBef>
                <a:spcPts val="100"/>
              </a:spcBef>
            </a:pPr>
            <a:r>
              <a:rPr sz="950">
                <a:solidFill>
                  <a:srgbClr val="404040"/>
                </a:solidFill>
                <a:latin typeface="Consolas"/>
              </a:rPr>
              <a:t>commit &amp; STORE (non-AMO) → MEM_STORE, pop store FIFO,</a:t>
            </a:r>
          </a:p>
          <a:p>
            <a:pPr algn="l">
              <a:spcBef>
                <a:spcPts val="100"/>
              </a:spcBef>
            </a:pPr>
            <a:r>
              <a:rPr sz="950">
                <a:solidFill>
                  <a:srgbClr val="404040"/>
                </a:solidFill>
                <a:latin typeface="Consolas"/>
              </a:rPr>
              <a:t>                          data via byte_ror64</a:t>
            </a:r>
          </a:p>
          <a:p>
            <a:pPr algn="l">
              <a:spcBef>
                <a:spcPts val="100"/>
              </a:spcBef>
            </a:pPr>
            <a:r>
              <a:rPr sz="950">
                <a:solidFill>
                  <a:srgbClr val="404040"/>
                </a:solidFill>
                <a:latin typeface="Consolas"/>
              </a:rPr>
              <a:t>commit &amp; LOAD            → MEM_LOAD (up to 2/cycle),</a:t>
            </a:r>
          </a:p>
          <a:p>
            <a:pPr algn="l">
              <a:spcBef>
                <a:spcPts val="100"/>
              </a:spcBef>
            </a:pPr>
            <a:r>
              <a:rPr sz="950">
                <a:solidFill>
                  <a:srgbClr val="404040"/>
                </a:solidFill>
                <a:latin typeface="Consolas"/>
              </a:rPr>
              <a:t>                          addr from load FIFO</a:t>
            </a:r>
          </a:p>
          <a:p>
            <a:pPr algn="l">
              <a:spcBef>
                <a:spcPts val="100"/>
              </a:spcBef>
            </a:pPr>
            <a:r>
              <a:rPr sz="950">
                <a:solidFill>
                  <a:srgbClr val="404040"/>
                </a:solidFill>
                <a:latin typeface="Consolas"/>
              </a:rPr>
              <a:t>otherwise                → MEM_NONE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4407408"/>
            <a:ext cx="5577840" cy="1417320"/>
          </a:xfrm>
          <a:prstGeom prst="roundRect">
            <a:avLst/>
          </a:prstGeom>
          <a:solidFill>
            <a:srgbClr val="DCEAFB"/>
          </a:solidFill>
          <a:ln w="19050">
            <a:solidFill>
              <a:srgbClr val="2E6D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/>
            <a:r>
              <a:rPr sz="1250" b="1">
                <a:solidFill>
                  <a:srgbClr val="1F3A5F"/>
                </a:solidFill>
              </a:rPr>
              <a:t>Rule 3   Port-0-only overrides</a:t>
            </a:r>
          </a:p>
          <a:p>
            <a:pPr algn="l">
              <a:spcBef>
                <a:spcPts val="100"/>
              </a:spcBef>
            </a:pPr>
            <a:r>
              <a:rPr sz="950">
                <a:solidFill>
                  <a:srgbClr val="404040"/>
                </a:solidFill>
                <a:latin typeface="Consolas"/>
              </a:rPr>
              <a:t>exception.valid &amp; !(debug &amp; BREAKPOINT)</a:t>
            </a:r>
          </a:p>
          <a:p>
            <a:pPr algn="l">
              <a:spcBef>
                <a:spcPts val="100"/>
              </a:spcBef>
            </a:pPr>
            <a:r>
              <a:rPr sz="950">
                <a:solidFill>
                  <a:srgbClr val="404040"/>
                </a:solidFill>
                <a:latin typeface="Consolas"/>
              </a:rPr>
              <a:t>        → ex_valid, cause, tval</a:t>
            </a:r>
          </a:p>
          <a:p>
            <a:pPr algn="l">
              <a:spcBef>
                <a:spcPts val="100"/>
              </a:spcBef>
            </a:pPr>
            <a:r>
              <a:rPr sz="950">
                <a:solidFill>
                  <a:srgbClr val="404040"/>
                </a:solidFill>
                <a:latin typeface="Consolas"/>
              </a:rPr>
              <a:t>csr_commit &amp; op ∈ {WRITE, SET, CLEAR}</a:t>
            </a:r>
          </a:p>
          <a:p>
            <a:pPr algn="l">
              <a:spcBef>
                <a:spcPts val="100"/>
              </a:spcBef>
            </a:pPr>
            <a:r>
              <a:rPr sz="950">
                <a:solidFill>
                  <a:srgbClr val="404040"/>
                </a:solidFill>
                <a:latin typeface="Consolas"/>
              </a:rPr>
              <a:t>        → csr_we, reconstruct csr_wdata</a:t>
            </a:r>
          </a:p>
          <a:p>
            <a:pPr algn="l">
              <a:spcBef>
                <a:spcPts val="100"/>
              </a:spcBef>
            </a:pPr>
            <a:r>
              <a:rPr sz="950">
                <a:solidFill>
                  <a:srgbClr val="404040"/>
                </a:solidFill>
                <a:latin typeface="Consolas"/>
              </a:rPr>
              <a:t>(both always reported on the OLDER port 0)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/>
          <a:lstStyle/>
          <a:p>
            <a:pPr algn="ctr">
              <a:defRPr sz="2500" b="1">
                <a:solidFill>
                  <a:srgbClr val="FFFFFF"/>
                </a:solidFill>
              </a:defRPr>
            </a:pPr>
            <a:r>
              <a:t>commit_log_pkt_t  —  packed bit layout (MSB-first)</a:t>
            </a:r>
          </a:p>
          <a:p>
            <a:pPr>
              <a:defRPr sz="1250">
                <a:solidFill>
                  <a:srgbClr val="C4D4E6"/>
                </a:solidFill>
              </a:defRPr>
            </a:pPr>
            <a:r>
              <a:t>One retired-instruction record. A valid[2] mask + two records form a commit_log_beat_t.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17320"/>
          <a:ext cx="5074920" cy="3419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777240"/>
                <a:gridCol w="2880360"/>
              </a:tblGrid>
              <a:tr h="310896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field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bits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meaning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F3A5F"/>
                          </a:solidFill>
                          <a:latin typeface="Consolas"/>
                        </a:defRPr>
                      </a:pPr>
                      <a:r>
                        <a:t>priv</a:t>
                      </a:r>
                    </a:p>
                  </a:txBody>
                  <a:tcPr>
                    <a:solidFill>
                      <a:srgbClr val="DCE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404040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DCE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04040"/>
                          </a:solidFill>
                        </a:defRPr>
                      </a:pPr>
                      <a:r>
                        <a:t>privilege  M / S / U</a:t>
                      </a:r>
                    </a:p>
                  </a:txBody>
                  <a:tcPr>
                    <a:solidFill>
                      <a:srgbClr val="DCEA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F3A5F"/>
                          </a:solidFill>
                          <a:latin typeface="Consolas"/>
                        </a:defRPr>
                      </a:pPr>
                      <a:r>
                        <a:t>debug</a:t>
                      </a:r>
                    </a:p>
                  </a:txBody>
                  <a:tcPr>
                    <a:solidFill>
                      <a:srgbClr val="DCE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404040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DCE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04040"/>
                          </a:solidFill>
                        </a:defRPr>
                      </a:pPr>
                      <a:r>
                        <a:t>debug-mode flag</a:t>
                      </a:r>
                    </a:p>
                  </a:txBody>
                  <a:tcPr>
                    <a:solidFill>
                      <a:srgbClr val="DCEA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F3A5F"/>
                          </a:solidFill>
                          <a:latin typeface="Consolas"/>
                        </a:defRPr>
                      </a:pPr>
                      <a:r>
                        <a:t>ex_valid</a:t>
                      </a:r>
                    </a:p>
                  </a:txBody>
                  <a:tcPr>
                    <a:solidFill>
                      <a:srgbClr val="FBE5E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404040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BE5E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04040"/>
                          </a:solidFill>
                        </a:defRPr>
                      </a:pPr>
                      <a:r>
                        <a:t>exception present</a:t>
                      </a:r>
                    </a:p>
                  </a:txBody>
                  <a:tcPr>
                    <a:solidFill>
                      <a:srgbClr val="FBE5E0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F3A5F"/>
                          </a:solidFill>
                          <a:latin typeface="Consolas"/>
                        </a:defRPr>
                      </a:pPr>
                      <a:r>
                        <a:t>retired</a:t>
                      </a:r>
                    </a:p>
                  </a:txBody>
                  <a:tcPr>
                    <a:solidFill>
                      <a:srgbClr val="DCE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404040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DCE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04040"/>
                          </a:solidFill>
                        </a:defRPr>
                      </a:pPr>
                      <a:r>
                        <a:t>commit_ack → emit line</a:t>
                      </a:r>
                    </a:p>
                  </a:txBody>
                  <a:tcPr>
                    <a:solidFill>
                      <a:srgbClr val="DCEA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F3A5F"/>
                          </a:solidFill>
                          <a:latin typeface="Consolas"/>
                        </a:defRPr>
                      </a:pPr>
                      <a:r>
                        <a:t>compressed</a:t>
                      </a:r>
                    </a:p>
                  </a:txBody>
                  <a:tcPr>
                    <a:solidFill>
                      <a:srgbClr val="DCE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404040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DCE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04040"/>
                          </a:solidFill>
                        </a:defRPr>
                      </a:pPr>
                      <a:r>
                        <a:t>RVC 16-bit instr</a:t>
                      </a:r>
                    </a:p>
                  </a:txBody>
                  <a:tcPr>
                    <a:solidFill>
                      <a:srgbClr val="DCEA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F3A5F"/>
                          </a:solidFill>
                          <a:latin typeface="Consolas"/>
                        </a:defRPr>
                      </a:pPr>
                      <a:r>
                        <a:t>we</a:t>
                      </a:r>
                    </a:p>
                  </a:txBody>
                  <a:tcPr>
                    <a:solidFill>
                      <a:srgbClr val="DFEFE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404040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DFEFE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04040"/>
                          </a:solidFill>
                        </a:defRPr>
                      </a:pPr>
                      <a:r>
                        <a:t>wrote a register</a:t>
                      </a:r>
                    </a:p>
                  </a:txBody>
                  <a:tcPr>
                    <a:solidFill>
                      <a:srgbClr val="DFEFE0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F3A5F"/>
                          </a:solidFill>
                          <a:latin typeface="Consolas"/>
                        </a:defRPr>
                      </a:pPr>
                      <a:r>
                        <a:t>rd_fpr</a:t>
                      </a:r>
                    </a:p>
                  </a:txBody>
                  <a:tcPr>
                    <a:solidFill>
                      <a:srgbClr val="DCE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404040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DCE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04040"/>
                          </a:solidFill>
                        </a:defRPr>
                      </a:pPr>
                      <a:r>
                        <a:t>dest is FP register</a:t>
                      </a:r>
                    </a:p>
                  </a:txBody>
                  <a:tcPr>
                    <a:solidFill>
                      <a:srgbClr val="DCEA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F3A5F"/>
                          </a:solidFill>
                          <a:latin typeface="Consolas"/>
                        </a:defRPr>
                      </a:pPr>
                      <a:r>
                        <a:t>rd</a:t>
                      </a:r>
                    </a:p>
                  </a:txBody>
                  <a:tcPr>
                    <a:solidFill>
                      <a:srgbClr val="DCE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404040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DCE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04040"/>
                          </a:solidFill>
                        </a:defRPr>
                      </a:pPr>
                      <a:r>
                        <a:t>dest register index</a:t>
                      </a:r>
                    </a:p>
                  </a:txBody>
                  <a:tcPr>
                    <a:solidFill>
                      <a:srgbClr val="DCEA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F3A5F"/>
                          </a:solidFill>
                          <a:latin typeface="Consolas"/>
                        </a:defRPr>
                      </a:pPr>
                      <a:r>
                        <a:t>pc</a:t>
                      </a:r>
                    </a:p>
                  </a:txBody>
                  <a:tcPr>
                    <a:solidFill>
                      <a:srgbClr val="DCE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404040"/>
                          </a:solidFill>
                        </a:defRPr>
                      </a:pPr>
                      <a:r>
                        <a:t>64</a:t>
                      </a:r>
                    </a:p>
                  </a:txBody>
                  <a:tcPr>
                    <a:solidFill>
                      <a:srgbClr val="DCE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04040"/>
                          </a:solidFill>
                        </a:defRPr>
                      </a:pPr>
                      <a:r>
                        <a:t>program counter (XLEN)</a:t>
                      </a:r>
                    </a:p>
                  </a:txBody>
                  <a:tcPr>
                    <a:solidFill>
                      <a:srgbClr val="DCEA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F3A5F"/>
                          </a:solidFill>
                          <a:latin typeface="Consolas"/>
                        </a:defRPr>
                      </a:pPr>
                      <a:r>
                        <a:t>instr</a:t>
                      </a:r>
                    </a:p>
                  </a:txBody>
                  <a:tcPr>
                    <a:solidFill>
                      <a:srgbClr val="DCE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404040"/>
                          </a:solidFill>
                        </a:defRPr>
                      </a:pPr>
                      <a:r>
                        <a:t>32</a:t>
                      </a:r>
                    </a:p>
                  </a:txBody>
                  <a:tcPr>
                    <a:solidFill>
                      <a:srgbClr val="DCE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04040"/>
                          </a:solidFill>
                        </a:defRPr>
                      </a:pPr>
                      <a:r>
                        <a:t>raw instruction word</a:t>
                      </a:r>
                    </a:p>
                  </a:txBody>
                  <a:tcPr>
                    <a:solidFill>
                      <a:srgbClr val="DCEA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46520" y="1417320"/>
          <a:ext cx="5074920" cy="3419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777240"/>
                <a:gridCol w="2880360"/>
              </a:tblGrid>
              <a:tr h="310896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field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bits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meaning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F3A5F"/>
                          </a:solidFill>
                          <a:latin typeface="Consolas"/>
                        </a:defRPr>
                      </a:pPr>
                      <a:r>
                        <a:t>wdata</a:t>
                      </a:r>
                    </a:p>
                  </a:txBody>
                  <a:tcPr>
                    <a:solidFill>
                      <a:srgbClr val="DFEFE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404040"/>
                          </a:solidFill>
                        </a:defRPr>
                      </a:pPr>
                      <a:r>
                        <a:t>64</a:t>
                      </a:r>
                    </a:p>
                  </a:txBody>
                  <a:tcPr>
                    <a:solidFill>
                      <a:srgbClr val="DFEFE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04040"/>
                          </a:solidFill>
                        </a:defRPr>
                      </a:pPr>
                      <a:r>
                        <a:t>committed result (XLEN)</a:t>
                      </a:r>
                    </a:p>
                  </a:txBody>
                  <a:tcPr>
                    <a:solidFill>
                      <a:srgbClr val="DFEFE0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F3A5F"/>
                          </a:solidFill>
                          <a:latin typeface="Consolas"/>
                        </a:defRPr>
                      </a:pPr>
                      <a:r>
                        <a:t>cause</a:t>
                      </a:r>
                    </a:p>
                  </a:txBody>
                  <a:tcPr>
                    <a:solidFill>
                      <a:srgbClr val="FBE5E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404040"/>
                          </a:solidFill>
                        </a:defRPr>
                      </a:pPr>
                      <a:r>
                        <a:t>64</a:t>
                      </a:r>
                    </a:p>
                  </a:txBody>
                  <a:tcPr>
                    <a:solidFill>
                      <a:srgbClr val="FBE5E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04040"/>
                          </a:solidFill>
                        </a:defRPr>
                      </a:pPr>
                      <a:r>
                        <a:t>exception cause (XLEN)</a:t>
                      </a:r>
                    </a:p>
                  </a:txBody>
                  <a:tcPr>
                    <a:solidFill>
                      <a:srgbClr val="FBE5E0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F3A5F"/>
                          </a:solidFill>
                          <a:latin typeface="Consolas"/>
                        </a:defRPr>
                      </a:pPr>
                      <a:r>
                        <a:t>tval</a:t>
                      </a:r>
                    </a:p>
                  </a:txBody>
                  <a:tcPr>
                    <a:solidFill>
                      <a:srgbClr val="FBE5E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404040"/>
                          </a:solidFill>
                        </a:defRPr>
                      </a:pPr>
                      <a:r>
                        <a:t>64</a:t>
                      </a:r>
                    </a:p>
                  </a:txBody>
                  <a:tcPr>
                    <a:solidFill>
                      <a:srgbClr val="FBE5E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04040"/>
                          </a:solidFill>
                        </a:defRPr>
                      </a:pPr>
                      <a:r>
                        <a:t>trap value (XLEN)</a:t>
                      </a:r>
                    </a:p>
                  </a:txBody>
                  <a:tcPr>
                    <a:solidFill>
                      <a:srgbClr val="FBE5E0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F3A5F"/>
                          </a:solidFill>
                          <a:latin typeface="Consolas"/>
                        </a:defRPr>
                      </a:pPr>
                      <a:r>
                        <a:t>mem_op</a:t>
                      </a:r>
                    </a:p>
                  </a:txBody>
                  <a:tcPr>
                    <a:solidFill>
                      <a:srgbClr val="FCEED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404040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CEED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04040"/>
                          </a:solidFill>
                        </a:defRPr>
                      </a:pPr>
                      <a:r>
                        <a:t>NONE / LOAD / STORE</a:t>
                      </a:r>
                    </a:p>
                  </a:txBody>
                  <a:tcPr>
                    <a:solidFill>
                      <a:srgbClr val="FCEED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F3A5F"/>
                          </a:solidFill>
                          <a:latin typeface="Consolas"/>
                        </a:defRPr>
                      </a:pPr>
                      <a:r>
                        <a:t>mem_addr</a:t>
                      </a:r>
                    </a:p>
                  </a:txBody>
                  <a:tcPr>
                    <a:solidFill>
                      <a:srgbClr val="FCEED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404040"/>
                          </a:solidFill>
                        </a:defRPr>
                      </a:pPr>
                      <a:r>
                        <a:t>64</a:t>
                      </a:r>
                    </a:p>
                  </a:txBody>
                  <a:tcPr>
                    <a:solidFill>
                      <a:srgbClr val="FCEED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04040"/>
                          </a:solidFill>
                        </a:defRPr>
                      </a:pPr>
                      <a:r>
                        <a:t>physical address</a:t>
                      </a:r>
                    </a:p>
                  </a:txBody>
                  <a:tcPr>
                    <a:solidFill>
                      <a:srgbClr val="FCEED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F3A5F"/>
                          </a:solidFill>
                          <a:latin typeface="Consolas"/>
                        </a:defRPr>
                      </a:pPr>
                      <a:r>
                        <a:t>mem_data</a:t>
                      </a:r>
                    </a:p>
                  </a:txBody>
                  <a:tcPr>
                    <a:solidFill>
                      <a:srgbClr val="FCEED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404040"/>
                          </a:solidFill>
                        </a:defRPr>
                      </a:pPr>
                      <a:r>
                        <a:t>64</a:t>
                      </a:r>
                    </a:p>
                  </a:txBody>
                  <a:tcPr>
                    <a:solidFill>
                      <a:srgbClr val="FCEED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04040"/>
                          </a:solidFill>
                        </a:defRPr>
                      </a:pPr>
                      <a:r>
                        <a:t>value loaded / stored</a:t>
                      </a:r>
                    </a:p>
                  </a:txBody>
                  <a:tcPr>
                    <a:solidFill>
                      <a:srgbClr val="FCEED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F3A5F"/>
                          </a:solidFill>
                          <a:latin typeface="Consolas"/>
                        </a:defRPr>
                      </a:pPr>
                      <a:r>
                        <a:t>mem_size</a:t>
                      </a:r>
                    </a:p>
                  </a:txBody>
                  <a:tcPr>
                    <a:solidFill>
                      <a:srgbClr val="FCEED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404040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CEED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04040"/>
                          </a:solidFill>
                        </a:defRPr>
                      </a:pPr>
                      <a:r>
                        <a:t>B / H / W / D</a:t>
                      </a:r>
                    </a:p>
                  </a:txBody>
                  <a:tcPr>
                    <a:solidFill>
                      <a:srgbClr val="FCEED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F3A5F"/>
                          </a:solidFill>
                          <a:latin typeface="Consolas"/>
                        </a:defRPr>
                      </a:pPr>
                      <a:r>
                        <a:t>csr_we</a:t>
                      </a:r>
                    </a:p>
                  </a:txBody>
                  <a:tcPr>
                    <a:solidFill>
                      <a:srgbClr val="EEE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404040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EE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04040"/>
                          </a:solidFill>
                        </a:defRPr>
                      </a:pPr>
                      <a:r>
                        <a:t>a CSR was written</a:t>
                      </a:r>
                    </a:p>
                  </a:txBody>
                  <a:tcPr>
                    <a:solidFill>
                      <a:srgbClr val="EEE6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F3A5F"/>
                          </a:solidFill>
                          <a:latin typeface="Consolas"/>
                        </a:defRPr>
                      </a:pPr>
                      <a:r>
                        <a:t>csr_addr</a:t>
                      </a:r>
                    </a:p>
                  </a:txBody>
                  <a:tcPr>
                    <a:solidFill>
                      <a:srgbClr val="EEE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404040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EEE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04040"/>
                          </a:solidFill>
                        </a:defRPr>
                      </a:pPr>
                      <a:r>
                        <a:t>CSR address</a:t>
                      </a:r>
                    </a:p>
                  </a:txBody>
                  <a:tcPr>
                    <a:solidFill>
                      <a:srgbClr val="EEE6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F3A5F"/>
                          </a:solidFill>
                          <a:latin typeface="Consolas"/>
                        </a:defRPr>
                      </a:pPr>
                      <a:r>
                        <a:t>csr_wdata</a:t>
                      </a:r>
                    </a:p>
                  </a:txBody>
                  <a:tcPr>
                    <a:solidFill>
                      <a:srgbClr val="EEE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404040"/>
                          </a:solidFill>
                        </a:defRPr>
                      </a:pPr>
                      <a:r>
                        <a:t>64</a:t>
                      </a:r>
                    </a:p>
                  </a:txBody>
                  <a:tcPr>
                    <a:solidFill>
                      <a:srgbClr val="EEE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04040"/>
                          </a:solidFill>
                        </a:defRPr>
                      </a:pPr>
                      <a:r>
                        <a:t>CSR value (pre-WARL, XLEN)</a:t>
                      </a:r>
                    </a:p>
                  </a:txBody>
                  <a:tcPr>
                    <a:solidFill>
                      <a:srgbClr val="EEE6F7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11480" y="5806440"/>
            <a:ext cx="5074920" cy="713232"/>
          </a:xfrm>
          <a:prstGeom prst="roundRect">
            <a:avLst/>
          </a:prstGeom>
          <a:solidFill>
            <a:srgbClr val="DCEAFB"/>
          </a:solidFill>
          <a:ln w="19050">
            <a:solidFill>
              <a:srgbClr val="2E6D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1300" b="1">
                <a:solidFill>
                  <a:srgbClr val="1F3A5F"/>
                </a:solidFill>
              </a:rPr>
              <a:t>record width = 510 bits  @ XLEN=64</a:t>
            </a:r>
          </a:p>
          <a:p>
            <a:pPr algn="ctr">
              <a:spcBef>
                <a:spcPts val="100"/>
              </a:spcBef>
            </a:pPr>
            <a:r>
              <a:rPr sz="950">
                <a:solidFill>
                  <a:srgbClr val="404040"/>
                </a:solidFill>
              </a:rPr>
              <a:t>Spike core fields priv…tval = 301  ·  memory +132  ·  CSR +77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46520" y="5806440"/>
            <a:ext cx="5074920" cy="713232"/>
          </a:xfrm>
          <a:prstGeom prst="roundRect">
            <a:avLst/>
          </a:prstGeom>
          <a:solidFill>
            <a:srgbClr val="E9ECF1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1300" b="1">
                <a:solidFill>
                  <a:srgbClr val="1F3A5F"/>
                </a:solidFill>
              </a:rPr>
              <a:t>commit_log_beat_t = valid[2] + 2 × pkt</a:t>
            </a:r>
          </a:p>
          <a:p>
            <a:pPr algn="ctr">
              <a:spcBef>
                <a:spcPts val="100"/>
              </a:spcBef>
            </a:pPr>
            <a:r>
              <a:rPr sz="950">
                <a:solidFill>
                  <a:srgbClr val="404040"/>
                </a:solidFill>
              </a:rPr>
              <a:t>= 1022 bits  ·  port 0 = older instruction (program order)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/>
          <a:lstStyle/>
          <a:p>
            <a:pPr algn="ctr">
              <a:defRPr sz="2500" b="1">
                <a:solidFill>
                  <a:srgbClr val="FFFFFF"/>
                </a:solidFill>
              </a:defRPr>
            </a:pPr>
            <a:r>
              <a:t>Address-FIFO re-alignment  (instr_tracer_addr_fifo)</a:t>
            </a:r>
          </a:p>
          <a:p>
            <a:pPr>
              <a:defRPr sz="1250">
                <a:solidFill>
                  <a:srgbClr val="C4D4E6"/>
                </a:solidFill>
              </a:defRPr>
            </a:pPr>
            <a:r>
              <a:t>The LSU generates addresses out of program order; bounded FIFOs realign each to the retiring instruction.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417320"/>
            <a:ext cx="2286000" cy="1143000"/>
          </a:xfrm>
          <a:prstGeom prst="roundRect">
            <a:avLst/>
          </a:prstGeom>
          <a:solidFill>
            <a:srgbClr val="ECEEF2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1400" b="1">
                <a:solidFill>
                  <a:srgbClr val="1F3A5F"/>
                </a:solidFill>
              </a:rPr>
              <a:t>LSU</a:t>
            </a:r>
          </a:p>
          <a:p>
            <a:pPr algn="ctr">
              <a:spcBef>
                <a:spcPts val="100"/>
              </a:spcBef>
            </a:pPr>
            <a:r>
              <a:rPr sz="950">
                <a:solidFill>
                  <a:srgbClr val="404040"/>
                </a:solidFill>
              </a:rPr>
              <a:t>store_unit / load_unit</a:t>
            </a:r>
          </a:p>
          <a:p>
            <a:pPr algn="ctr">
              <a:spcBef>
                <a:spcPts val="100"/>
              </a:spcBef>
            </a:pPr>
            <a:r>
              <a:rPr sz="950">
                <a:solidFill>
                  <a:srgbClr val="404040"/>
                </a:solidFill>
              </a:rPr>
              <a:t>generates paddr</a:t>
            </a:r>
          </a:p>
          <a:p>
            <a:pPr algn="ctr">
              <a:spcBef>
                <a:spcPts val="100"/>
              </a:spcBef>
            </a:pPr>
            <a:r>
              <a:rPr sz="950">
                <a:solidFill>
                  <a:srgbClr val="404040"/>
                </a:solidFill>
              </a:rPr>
              <a:t>OUT of program order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1298448"/>
            <a:ext cx="4206240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</a:rPr>
              <a:t>store / load address FIFO   (depth 16)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31920" y="1627632"/>
            <a:ext cx="804672" cy="777240"/>
          </a:xfrm>
          <a:prstGeom prst="roundRect">
            <a:avLst/>
          </a:prstGeom>
          <a:solidFill>
            <a:srgbClr val="DCEAFB"/>
          </a:solidFill>
          <a:ln w="19050">
            <a:solidFill>
              <a:srgbClr val="2E6D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1300" b="1">
                <a:solidFill>
                  <a:srgbClr val="1F3A5F"/>
                </a:solidFill>
              </a:rPr>
              <a:t/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73168" y="1627632"/>
            <a:ext cx="804672" cy="777240"/>
          </a:xfrm>
          <a:prstGeom prst="roundRect">
            <a:avLst/>
          </a:prstGeom>
          <a:solidFill>
            <a:srgbClr val="DCEAFB"/>
          </a:solidFill>
          <a:ln w="19050">
            <a:solidFill>
              <a:srgbClr val="2E6D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1300" b="1">
                <a:solidFill>
                  <a:srgbClr val="1F3A5F"/>
                </a:solidFill>
              </a:rPr>
              <a:t/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14416" y="1627632"/>
            <a:ext cx="804672" cy="777240"/>
          </a:xfrm>
          <a:prstGeom prst="roundRect">
            <a:avLst/>
          </a:prstGeom>
          <a:solidFill>
            <a:srgbClr val="DCEAFB"/>
          </a:solidFill>
          <a:ln w="19050">
            <a:solidFill>
              <a:srgbClr val="2E6D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1300" b="1">
                <a:solidFill>
                  <a:srgbClr val="1F3A5F"/>
                </a:solidFill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55664" y="1627632"/>
            <a:ext cx="804672" cy="777240"/>
          </a:xfrm>
          <a:prstGeom prst="roundRect">
            <a:avLst/>
          </a:prstGeom>
          <a:solidFill>
            <a:srgbClr val="DCEAFB"/>
          </a:solidFill>
          <a:ln w="19050">
            <a:solidFill>
              <a:srgbClr val="2E6D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1300" b="1">
                <a:solidFill>
                  <a:srgbClr val="1F3A5F"/>
                </a:solidFill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96912" y="1627632"/>
            <a:ext cx="804672" cy="777240"/>
          </a:xfrm>
          <a:prstGeom prst="roundRect">
            <a:avLst/>
          </a:prstGeom>
          <a:solidFill>
            <a:srgbClr val="DCEAFB"/>
          </a:solidFill>
          <a:ln w="19050">
            <a:solidFill>
              <a:srgbClr val="2E6D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1300" b="1">
                <a:solidFill>
                  <a:srgbClr val="1F3A5F"/>
                </a:solidFill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2450592"/>
            <a:ext cx="804672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900" b="0" i="0">
                <a:solidFill>
                  <a:srgbClr val="2E6DB4"/>
                </a:solidFill>
              </a:rPr>
              <a:t>head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96912" y="2450592"/>
            <a:ext cx="804672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900" b="0" i="0">
                <a:solidFill>
                  <a:srgbClr val="2E6DB4"/>
                </a:solidFill>
              </a:rPr>
              <a:t>tail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26880" y="1417320"/>
            <a:ext cx="2377440" cy="1143000"/>
          </a:xfrm>
          <a:prstGeom prst="roundRect">
            <a:avLst/>
          </a:prstGeom>
          <a:solidFill>
            <a:srgbClr val="DCEAFB"/>
          </a:solidFill>
          <a:ln w="19050">
            <a:solidFill>
              <a:srgbClr val="2E6D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1400" b="1">
                <a:solidFill>
                  <a:srgbClr val="1F3A5F"/>
                </a:solidFill>
              </a:rPr>
              <a:t>Beat builder</a:t>
            </a:r>
          </a:p>
          <a:p>
            <a:pPr algn="ctr">
              <a:spcBef>
                <a:spcPts val="100"/>
              </a:spcBef>
            </a:pPr>
            <a:r>
              <a:rPr sz="950">
                <a:solidFill>
                  <a:srgbClr val="404040"/>
                </a:solidFill>
              </a:rPr>
              <a:t>pops the oldest entry</a:t>
            </a:r>
          </a:p>
          <a:p>
            <a:pPr algn="ctr">
              <a:spcBef>
                <a:spcPts val="100"/>
              </a:spcBef>
            </a:pPr>
            <a:r>
              <a:rPr sz="950">
                <a:solidFill>
                  <a:srgbClr val="404040"/>
                </a:solidFill>
              </a:rPr>
              <a:t>for the retiring</a:t>
            </a:r>
          </a:p>
          <a:p>
            <a:pPr algn="ctr">
              <a:spcBef>
                <a:spcPts val="100"/>
              </a:spcBef>
            </a:pPr>
            <a:r>
              <a:rPr sz="950">
                <a:solidFill>
                  <a:srgbClr val="404040"/>
                </a:solidFill>
              </a:rPr>
              <a:t>load / store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743200" y="1993392"/>
            <a:ext cx="1170432" cy="0"/>
          </a:xfrm>
          <a:prstGeom prst="line">
            <a:avLst/>
          </a:prstGeom>
          <a:ln w="30480">
            <a:solidFill>
              <a:srgbClr val="C4761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743200" y="1645920"/>
            <a:ext cx="1188720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900" b="1" i="0">
                <a:solidFill>
                  <a:srgbClr val="C4761C"/>
                </a:solidFill>
              </a:rPr>
              <a:t>push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183879" y="1993392"/>
            <a:ext cx="1143001" cy="0"/>
          </a:xfrm>
          <a:prstGeom prst="line">
            <a:avLst/>
          </a:prstGeom>
          <a:ln w="30480">
            <a:solidFill>
              <a:srgbClr val="C4761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183879" y="1645920"/>
            <a:ext cx="1188720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900" b="1" i="0">
                <a:solidFill>
                  <a:srgbClr val="C4761C"/>
                </a:solidFill>
              </a:rPr>
              <a:t>pop @ commit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971800"/>
            <a:ext cx="11247120" cy="3154680"/>
          </a:xfrm>
          <a:prstGeom prst="roundRect">
            <a:avLst/>
          </a:prstGeom>
          <a:solidFill>
            <a:srgbClr val="F3F6FA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/>
            <a:r>
              <a:rPr sz="1500" b="1">
                <a:solidFill>
                  <a:srgbClr val="1F3A5F"/>
                </a:solidFill>
              </a:rPr>
              <a:t>How it works</a:t>
            </a:r>
          </a:p>
          <a:p>
            <a:pPr algn="l">
              <a:spcBef>
                <a:spcPts val="100"/>
              </a:spcBef>
            </a:pPr>
            <a:r>
              <a:rPr sz="1150">
                <a:solidFill>
                  <a:srgbClr val="404040"/>
                </a:solidFill>
              </a:rPr>
              <a:t>• push  —  store: st_valid_i pushes {paddr, data, size};   load: ld_valid_i &amp; ~ld_kill_i pushes {paddr, size}</a:t>
            </a:r>
          </a:p>
          <a:p>
            <a:pPr algn="l">
              <a:spcBef>
                <a:spcPts val="100"/>
              </a:spcBef>
            </a:pPr>
            <a:r>
              <a:rPr sz="1150">
                <a:solidFill>
                  <a:srgbClr val="404040"/>
                </a:solidFill>
              </a:rPr>
              <a:t>• pop @ commit  —  STORE (non-AMO) pops 1;   LOAD pops 0..2 (two loads may retire per cycle) → exposes data0_o &amp; data1_o</a:t>
            </a:r>
          </a:p>
          <a:p>
            <a:pPr algn="l">
              <a:spcBef>
                <a:spcPts val="100"/>
              </a:spcBef>
            </a:pPr>
            <a:r>
              <a:rPr sz="1150">
                <a:solidFill>
                  <a:srgbClr val="404040"/>
                </a:solidFill>
              </a:rPr>
              <a:t>• AMOs report fu == STORE but never push the store buffer → they must NOT pop  (queue stays aligned)</a:t>
            </a:r>
          </a:p>
          <a:p>
            <a:pPr algn="l">
              <a:spcBef>
                <a:spcPts val="100"/>
              </a:spcBef>
            </a:pPr>
            <a:r>
              <a:rPr sz="1150">
                <a:solidFill>
                  <a:srgbClr val="404040"/>
                </a:solidFill>
              </a:rPr>
              <a:t>• byte_ror64 undoes CVA6 data_align (rotate-left by addr[2:0]) so mem_data carries the natural stored value</a:t>
            </a:r>
          </a:p>
          <a:p>
            <a:pPr algn="l">
              <a:spcBef>
                <a:spcPts val="100"/>
              </a:spcBef>
            </a:pPr>
            <a:r>
              <a:rPr sz="1150">
                <a:solidFill>
                  <a:srgbClr val="404040"/>
                </a:solidFill>
              </a:rPr>
              <a:t>• flush_addr_i clears the queue on a pipeline flush (branch mispredict / exception)</a:t>
            </a:r>
          </a:p>
          <a:p>
            <a:pPr algn="l">
              <a:spcBef>
                <a:spcPts val="100"/>
              </a:spcBef>
            </a:pPr>
            <a:r>
              <a:rPr sz="1150">
                <a:solidFill>
                  <a:srgbClr val="404040"/>
                </a:solidFill>
              </a:rPr>
              <a:t>• depth = 2^AW = 16, a power of two → natural pointer wrap-around (no occupancy compare needed)</a:t>
            </a:r>
          </a:p>
          <a:p>
            <a:pPr algn="l">
              <a:spcBef>
                <a:spcPts val="100"/>
              </a:spcBef>
            </a:pPr>
            <a:r>
              <a:rPr sz="1150">
                <a:solidFill>
                  <a:srgbClr val="404040"/>
                </a:solidFill>
              </a:rPr>
              <a:t>• over / underflow → overflow_o : a mem token may be misaligned, trace no longer address-accurate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/>
          <a:lstStyle/>
          <a:p>
            <a:pPr algn="ctr">
              <a:defRPr sz="2500" b="1">
                <a:solidFill>
                  <a:srgbClr val="FFFFFF"/>
                </a:solidFill>
              </a:defRPr>
            </a:pPr>
            <a:r>
              <a:t>Worked example  —  anatomy of a Spike commit-log line</a:t>
            </a:r>
          </a:p>
          <a:p>
            <a:pPr>
              <a:defRPr sz="1250">
                <a:solidFill>
                  <a:srgbClr val="C4D4E6"/>
                </a:solidFill>
              </a:defRPr>
            </a:pPr>
            <a:r>
              <a:t>How packed fields become Spike-format ASCII (printed by the sim sink or the host decoder).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47120" cy="960120"/>
          </a:xfrm>
          <a:prstGeom prst="rect">
            <a:avLst/>
          </a:prstGeom>
          <a:solidFill>
            <a:srgbClr val="1B2028"/>
          </a:solidFill>
          <a:ln w="19050">
            <a:solidFill>
              <a:srgbClr val="1B20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64008" tIns="27432" bIns="27432"/>
          <a:lstStyle/>
          <a:p>
            <a:pPr algn="ctr"/>
            <a:r>
              <a:rPr sz="1300" b="1">
                <a:solidFill>
                  <a:srgbClr val="1F3A5F"/>
                </a:solidFill>
              </a:rPr>
              <a:t/>
            </a:r>
            <a:r>
              <a:rPr sz="1250">
                <a:solidFill>
                  <a:srgbClr val="8CE09A"/>
                </a:solidFill>
                <a:latin typeface="Consolas"/>
              </a:rPr>
              <a:t>0 0x0000000080002a40 (0x0007a283) x 5 0x000000000000002a mem 0x0000000080004000</a:t>
            </a:r>
          </a:p>
          <a:p>
            <a:r>
              <a:rPr sz="1250">
                <a:solidFill>
                  <a:srgbClr val="8CE09A"/>
                </a:solidFill>
                <a:latin typeface="Consolas"/>
              </a:rPr>
              <a:t>3 0x0000000080000100 (0x30529073) c773_mtvec 0x0000000080000200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423160"/>
          <a:ext cx="69494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1783080"/>
                <a:gridCol w="2834640"/>
              </a:tblGrid>
              <a:tr h="391885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token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← field(s)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rule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A5F"/>
                          </a:solidFill>
                          <a:latin typeface="Consolas"/>
                        </a:defRPr>
                      </a:pPr>
                      <a:r>
                        <a:t>0  / 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04040"/>
                          </a:solidFill>
                        </a:defRPr>
                      </a:pPr>
                      <a:r>
                        <a:t>priv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04040"/>
                          </a:solidFill>
                        </a:defRPr>
                      </a:pPr>
                      <a:r>
                        <a:t>decimal: U=0, S=1, M=3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A5F"/>
                          </a:solidFill>
                          <a:latin typeface="Consolas"/>
                        </a:defRPr>
                      </a:pPr>
                      <a:r>
                        <a:t>0x…2a40</a:t>
                      </a:r>
                    </a:p>
                  </a:txBody>
                  <a:tcPr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04040"/>
                          </a:solidFill>
                        </a:defRPr>
                      </a:pPr>
                      <a:r>
                        <a:t>pc</a:t>
                      </a:r>
                    </a:p>
                  </a:txBody>
                  <a:tcPr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04040"/>
                          </a:solidFill>
                        </a:defRPr>
                      </a:pPr>
                      <a:r>
                        <a:t>0x + 16 hex digits (zero-padded)</a:t>
                      </a:r>
                    </a:p>
                  </a:txBody>
                  <a:tcPr>
                    <a:solidFill>
                      <a:srgbClr val="EEF3F9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A5F"/>
                          </a:solidFill>
                          <a:latin typeface="Consolas"/>
                        </a:defRPr>
                      </a:pPr>
                      <a:r>
                        <a:t>(0x0007a283)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04040"/>
                          </a:solidFill>
                        </a:defRPr>
                      </a:pPr>
                      <a:r>
                        <a:t>instr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04040"/>
                          </a:solidFill>
                        </a:defRPr>
                      </a:pPr>
                      <a:r>
                        <a:t>instr[1:0]=2'b11 → 8-hex; RVC → (0x____)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A5F"/>
                          </a:solidFill>
                          <a:latin typeface="Consolas"/>
                        </a:defRPr>
                      </a:pPr>
                      <a:r>
                        <a:t>x 5 0x…2a</a:t>
                      </a:r>
                    </a:p>
                  </a:txBody>
                  <a:tcPr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04040"/>
                          </a:solidFill>
                        </a:defRPr>
                      </a:pPr>
                      <a:r>
                        <a:t>rd · we · wdata</a:t>
                      </a:r>
                    </a:p>
                  </a:txBody>
                  <a:tcPr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04040"/>
                          </a:solidFill>
                        </a:defRPr>
                      </a:pPr>
                      <a:r>
                        <a:t>'x'/'f'+idx; printed when rd_fpr or rd≠0</a:t>
                      </a:r>
                    </a:p>
                  </a:txBody>
                  <a:tcPr>
                    <a:solidFill>
                      <a:srgbClr val="EEF3F9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A5F"/>
                          </a:solidFill>
                          <a:latin typeface="Consolas"/>
                        </a:defRPr>
                      </a:pPr>
                      <a:r>
                        <a:t>mem 0x…4000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04040"/>
                          </a:solidFill>
                        </a:defRPr>
                      </a:pPr>
                      <a:r>
                        <a:t>mem_op = LOAD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04040"/>
                          </a:solidFill>
                        </a:defRPr>
                      </a:pPr>
                      <a:r>
                        <a:t>load: addr only (value shown as the rd write)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89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A5F"/>
                          </a:solidFill>
                          <a:latin typeface="Consolas"/>
                        </a:defRPr>
                      </a:pPr>
                      <a:r>
                        <a:t>c773_mtvec 0x…200</a:t>
                      </a:r>
                    </a:p>
                  </a:txBody>
                  <a:tcPr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04040"/>
                          </a:solidFill>
                        </a:defRPr>
                      </a:pPr>
                      <a:r>
                        <a:t>csr_we/addr/wdata</a:t>
                      </a:r>
                    </a:p>
                  </a:txBody>
                  <a:tcPr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04040"/>
                          </a:solidFill>
                        </a:defRPr>
                      </a:pPr>
                      <a:r>
                        <a:t>c&lt;dec-addr&gt;_&lt;name&gt;;  name via csr_name()</a:t>
                      </a:r>
                    </a:p>
                  </a:txBody>
                  <a:tcPr>
                    <a:solidFill>
                      <a:srgbClr val="EEF3F9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680960" y="2423160"/>
            <a:ext cx="4069080" cy="2743200"/>
          </a:xfrm>
          <a:prstGeom prst="roundRect">
            <a:avLst/>
          </a:prstGeom>
          <a:solidFill>
            <a:srgbClr val="F3F6FA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/>
            <a:r>
              <a:rPr sz="1300" b="1">
                <a:solidFill>
                  <a:srgbClr val="1F3A5F"/>
                </a:solidFill>
              </a:rPr>
              <a:t>Formatting rules</a:t>
            </a:r>
          </a:p>
          <a:p>
            <a:pPr algn="l">
              <a:spcBef>
                <a:spcPts val="100"/>
              </a:spcBef>
            </a:pPr>
            <a:r>
              <a:rPr sz="1000">
                <a:solidFill>
                  <a:srgbClr val="404040"/>
                </a:solidFill>
              </a:rPr>
              <a:t>• line emitted when retired (commit_ack)</a:t>
            </a:r>
          </a:p>
          <a:p>
            <a:pPr algn="l">
              <a:spcBef>
                <a:spcPts val="100"/>
              </a:spcBef>
            </a:pPr>
            <a:r>
              <a:rPr sz="1000">
                <a:solidFill>
                  <a:srgbClr val="404040"/>
                </a:solidFill>
              </a:rPr>
              <a:t>   &amp; !debug_mode — NOT gated by exceptions</a:t>
            </a:r>
          </a:p>
          <a:p>
            <a:pPr algn="l">
              <a:spcBef>
                <a:spcPts val="100"/>
              </a:spcBef>
            </a:pPr>
            <a:r>
              <a:rPr sz="1000">
                <a:solidFill>
                  <a:srgbClr val="404040"/>
                </a:solidFill>
              </a:rPr>
              <a:t>• priv printed in decimal (M=3, S=1, U=0)</a:t>
            </a:r>
          </a:p>
          <a:p>
            <a:pPr algn="l">
              <a:spcBef>
                <a:spcPts val="100"/>
              </a:spcBef>
            </a:pPr>
            <a:r>
              <a:rPr sz="1000">
                <a:solidFill>
                  <a:srgbClr val="404040"/>
                </a:solidFill>
              </a:rPr>
              <a:t>• pc / values: 0x + 16 hex digits</a:t>
            </a:r>
          </a:p>
          <a:p>
            <a:pPr algn="l">
              <a:spcBef>
                <a:spcPts val="100"/>
              </a:spcBef>
            </a:pPr>
            <a:r>
              <a:rPr sz="1000">
                <a:solidFill>
                  <a:srgbClr val="404040"/>
                </a:solidFill>
              </a:rPr>
              <a:t>   (spikeCommitLog hardcodes logic[63:0])</a:t>
            </a:r>
          </a:p>
          <a:p>
            <a:pPr algn="l">
              <a:spcBef>
                <a:spcPts val="100"/>
              </a:spcBef>
            </a:pPr>
            <a:r>
              <a:rPr sz="1000">
                <a:solidFill>
                  <a:srgbClr val="404040"/>
                </a:solidFill>
              </a:rPr>
              <a:t>• RVC if instr[1:0]≠2'b11 → (0x____)</a:t>
            </a:r>
          </a:p>
          <a:p>
            <a:pPr algn="l">
              <a:spcBef>
                <a:spcPts val="100"/>
              </a:spcBef>
            </a:pPr>
            <a:r>
              <a:rPr sz="1000">
                <a:solidFill>
                  <a:srgbClr val="404040"/>
                </a:solidFill>
              </a:rPr>
              <a:t>• STORE → mem 0x&lt;addr&gt; 0x&lt;data&gt;;</a:t>
            </a:r>
          </a:p>
          <a:p>
            <a:pPr algn="l">
              <a:spcBef>
                <a:spcPts val="100"/>
              </a:spcBef>
            </a:pPr>
            <a:r>
              <a:rPr sz="1000">
                <a:solidFill>
                  <a:srgbClr val="404040"/>
                </a:solidFill>
              </a:rPr>
              <a:t>   LOAD → mem 0x&lt;addr&gt;</a:t>
            </a:r>
          </a:p>
          <a:p>
            <a:pPr algn="l">
              <a:spcBef>
                <a:spcPts val="100"/>
              </a:spcBef>
            </a:pPr>
            <a:r>
              <a:rPr sz="1000">
                <a:solidFill>
                  <a:srgbClr val="404040"/>
                </a:solidFill>
              </a:rPr>
              <a:t>• reg spacing: Spike 'x 5' vs ours 'x5' —</a:t>
            </a:r>
          </a:p>
          <a:p>
            <a:pPr algn="l">
              <a:spcBef>
                <a:spcPts val="100"/>
              </a:spcBef>
            </a:pPr>
            <a:r>
              <a:rPr sz="1000">
                <a:solidFill>
                  <a:srgbClr val="404040"/>
                </a:solidFill>
              </a:rPr>
              <a:t>   compare_spike_log.py normalizes it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/>
          <a:lstStyle/>
          <a:p>
            <a:pPr algn="ctr">
              <a:defRPr sz="2500" b="1">
                <a:solidFill>
                  <a:srgbClr val="FFFFFF"/>
                </a:solidFill>
              </a:defRPr>
            </a:pPr>
            <a:r>
              <a:t>Integration into CVA6  —  non-invasive  bind</a:t>
            </a:r>
          </a:p>
          <a:p>
            <a:pPr>
              <a:defRPr sz="1250">
                <a:solidFill>
                  <a:srgbClr val="C4D4E6"/>
                </a:solidFill>
              </a:defRPr>
            </a:pPr>
            <a:r>
              <a:t>instr_tracer_synth_bind.sv attaches the tracer to every `ariane` core without editing the CVA6 submodule.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024128"/>
            <a:ext cx="237744" cy="237744"/>
          </a:xfrm>
          <a:prstGeom prst="roundRect">
            <a:avLst/>
          </a:prstGeom>
          <a:solidFill>
            <a:srgbClr val="DCEAFB"/>
          </a:solidFill>
          <a:ln w="15875">
            <a:solidFill>
              <a:srgbClr val="2E6D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005840"/>
            <a:ext cx="2377440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synthesizable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27732" y="1024128"/>
            <a:ext cx="237744" cy="237744"/>
          </a:xfrm>
          <a:prstGeom prst="roundRect">
            <a:avLst/>
          </a:prstGeom>
          <a:solidFill>
            <a:srgbClr val="FCE7CE"/>
          </a:solidFill>
          <a:ln w="15875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20340" y="1005840"/>
            <a:ext cx="2377440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simulation-only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7408" y="1024128"/>
            <a:ext cx="237744" cy="237744"/>
          </a:xfrm>
          <a:prstGeom prst="roundRect">
            <a:avLst/>
          </a:prstGeom>
          <a:solidFill>
            <a:srgbClr val="EAEAEA"/>
          </a:solidFill>
          <a:ln w="15875">
            <a:solidFill>
              <a:srgbClr val="7777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0016" y="1005840"/>
            <a:ext cx="2377440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output file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63040" y="1508760"/>
            <a:ext cx="9235440" cy="1417320"/>
          </a:xfrm>
          <a:prstGeom prst="roundRect">
            <a:avLst/>
          </a:prstGeom>
          <a:solidFill>
            <a:srgbClr val="E9ECF1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1500" b="1">
                <a:solidFill>
                  <a:srgbClr val="1F3A5F"/>
                </a:solidFill>
              </a:rPr>
              <a:t>module  ariane   (CVA6 core)</a:t>
            </a:r>
          </a:p>
          <a:p>
            <a:pPr algn="ctr">
              <a:spcBef>
                <a:spcPts val="100"/>
              </a:spcBef>
            </a:pPr>
            <a:r>
              <a:rPr sz="950">
                <a:solidFill>
                  <a:srgbClr val="404040"/>
                </a:solidFill>
                <a:latin typeface="Consolas"/>
              </a:rPr>
              <a:t>IF → ID → Issue → EX → Commit</a:t>
            </a:r>
          </a:p>
          <a:p>
            <a:pPr algn="ctr">
              <a:spcBef>
                <a:spcPts val="100"/>
              </a:spcBef>
            </a:pPr>
            <a:r>
              <a:rPr sz="950">
                <a:solidFill>
                  <a:srgbClr val="404040"/>
                </a:solidFill>
                <a:latin typeface="Consolas"/>
              </a:rPr>
              <a:t>commit_instr_id_commit  commit_ack  waddr/wdata_commit_id  we_gpr/we_fpr  priv_lvl  debug_mode</a:t>
            </a:r>
          </a:p>
          <a:p>
            <a:pPr algn="ctr">
              <a:spcBef>
                <a:spcPts val="100"/>
              </a:spcBef>
            </a:pPr>
            <a:r>
              <a:rPr sz="950">
                <a:solidFill>
                  <a:srgbClr val="404040"/>
                </a:solidFill>
                <a:latin typeface="Consolas"/>
              </a:rPr>
              <a:t>commit_stage_i.exception_o   csr_*_commit_*   ex_stage_i.lsu_i.{i_store_unit, i_load_unit}.*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89904" y="2926080"/>
            <a:ext cx="0" cy="502920"/>
          </a:xfrm>
          <a:prstGeom prst="line">
            <a:avLst/>
          </a:prstGeom>
          <a:ln w="38100">
            <a:solidFill>
              <a:srgbClr val="2E6DB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263640" y="2944368"/>
            <a:ext cx="5029200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100" b="1" i="0">
                <a:solidFill>
                  <a:srgbClr val="2E6DB4"/>
                </a:solidFill>
              </a:rPr>
              <a:t>bind ariane instr_tracer_synth_tap  (resolved in ariane scope; core untouched)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63040" y="3520440"/>
            <a:ext cx="9235440" cy="1874519"/>
          </a:xfrm>
          <a:prstGeom prst="roundRect">
            <a:avLst/>
          </a:prstGeom>
          <a:solidFill>
            <a:srgbClr val="FDF3E3"/>
          </a:solidFill>
          <a:ln w="19050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45920" y="3611880"/>
            <a:ext cx="8229600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50" b="1" i="0">
                <a:solidFill>
                  <a:srgbClr val="E08A1E"/>
                </a:solidFill>
              </a:rPr>
              <a:t>instr_tracer_synth_tap   ( `ifndef SYNTHESIS  —  simulation wrapper 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874519" y="4069080"/>
            <a:ext cx="3383280" cy="1097280"/>
          </a:xfrm>
          <a:prstGeom prst="roundRect">
            <a:avLst/>
          </a:prstGeom>
          <a:solidFill>
            <a:srgbClr val="DCEAFB"/>
          </a:solidFill>
          <a:ln w="19050">
            <a:solidFill>
              <a:srgbClr val="2E6D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1350" b="1">
                <a:solidFill>
                  <a:srgbClr val="1F3A5F"/>
                </a:solidFill>
              </a:rPr>
              <a:t>instr_tracer_synth</a:t>
            </a:r>
          </a:p>
          <a:p>
            <a:pPr algn="ctr">
              <a:spcBef>
                <a:spcPts val="100"/>
              </a:spcBef>
            </a:pPr>
            <a:r>
              <a:rPr sz="950">
                <a:solidFill>
                  <a:srgbClr val="404040"/>
                </a:solidFill>
              </a:rPr>
              <a:t>DUT — synthesizable</a:t>
            </a:r>
          </a:p>
          <a:p>
            <a:pPr algn="ctr">
              <a:spcBef>
                <a:spcPts val="100"/>
              </a:spcBef>
            </a:pPr>
            <a:r>
              <a:rPr sz="950">
                <a:solidFill>
                  <a:srgbClr val="404040"/>
                </a:solidFill>
              </a:rPr>
              <a:t>capture + pack + FIFO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4069080"/>
            <a:ext cx="3383280" cy="1097280"/>
          </a:xfrm>
          <a:prstGeom prst="roundRect">
            <a:avLst/>
          </a:prstGeom>
          <a:solidFill>
            <a:srgbClr val="FCE7CE"/>
          </a:solidFill>
          <a:ln w="19050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1350" b="1">
                <a:solidFill>
                  <a:srgbClr val="1F3A5F"/>
                </a:solidFill>
              </a:rPr>
              <a:t>instr_tracer_synth_sink</a:t>
            </a:r>
          </a:p>
          <a:p>
            <a:pPr algn="ctr">
              <a:spcBef>
                <a:spcPts val="100"/>
              </a:spcBef>
            </a:pPr>
            <a:r>
              <a:rPr sz="950">
                <a:solidFill>
                  <a:srgbClr val="404040"/>
                </a:solidFill>
              </a:rPr>
              <a:t>models the trace consumer</a:t>
            </a:r>
          </a:p>
          <a:p>
            <a:pPr algn="ctr">
              <a:spcBef>
                <a:spcPts val="100"/>
              </a:spcBef>
            </a:pPr>
            <a:r>
              <a:rPr sz="950">
                <a:solidFill>
                  <a:srgbClr val="404040"/>
                </a:solidFill>
              </a:rPr>
              <a:t>spike_commit_str() + $fwrite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257800" y="4434840"/>
            <a:ext cx="1645920" cy="0"/>
          </a:xfrm>
          <a:prstGeom prst="line">
            <a:avLst/>
          </a:prstGeom>
          <a:ln w="31750">
            <a:solidFill>
              <a:srgbClr val="2E6DB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120640" y="4069080"/>
            <a:ext cx="1920240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950" b="0" i="0">
                <a:solidFill>
                  <a:srgbClr val="2E6DB4"/>
                </a:solidFill>
              </a:rPr>
              <a:t>trace_valid / beat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5257800" y="4892040"/>
            <a:ext cx="1645920" cy="0"/>
          </a:xfrm>
          <a:prstGeom prst="line">
            <a:avLst/>
          </a:prstGeom>
          <a:ln w="22225">
            <a:solidFill>
              <a:srgbClr val="E08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120640" y="4864608"/>
            <a:ext cx="1920240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950" b="0" i="0">
                <a:solidFill>
                  <a:srgbClr val="E08A1E"/>
                </a:solidFill>
              </a:rPr>
              <a:t>trace_ready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595360" y="5394960"/>
            <a:ext cx="0" cy="411480"/>
          </a:xfrm>
          <a:prstGeom prst="line">
            <a:avLst/>
          </a:prstGeom>
          <a:ln w="31750">
            <a:solidFill>
              <a:srgbClr val="40404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olded Corner 21"/>
          <p:cNvSpPr/>
          <p:nvPr/>
        </p:nvSpPr>
        <p:spPr>
          <a:xfrm>
            <a:off x="6903720" y="5806440"/>
            <a:ext cx="3383280" cy="685800"/>
          </a:xfrm>
          <a:prstGeom prst="foldedCorner">
            <a:avLst/>
          </a:prstGeom>
          <a:solidFill>
            <a:srgbClr val="EAEAEA"/>
          </a:solidFill>
          <a:ln w="19050">
            <a:solidFill>
              <a:srgbClr val="7777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1200" b="1">
                <a:solidFill>
                  <a:srgbClr val="1F3A5F"/>
                </a:solidFill>
              </a:rPr>
              <a:t>trace_hart_0_commit.synth.log</a:t>
            </a:r>
          </a:p>
          <a:p>
            <a:pPr algn="ctr">
              <a:spcBef>
                <a:spcPts val="100"/>
              </a:spcBef>
            </a:pPr>
            <a:r>
              <a:rPr sz="900">
                <a:solidFill>
                  <a:srgbClr val="404040"/>
                </a:solidFill>
              </a:rPr>
              <a:t>Spike commit-log format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5897880"/>
            <a:ext cx="5120640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050" b="0" i="1">
                <a:solidFill>
                  <a:srgbClr val="404040"/>
                </a:solidFill>
              </a:rPr>
              <a:t>(+ trace_hart_0.pkt.hex when EmitPktHex=1, for the real-silicon binary path)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/>
          <a:lstStyle/>
          <a:p>
            <a:pPr algn="ctr">
              <a:defRPr sz="2500" b="1">
                <a:solidFill>
                  <a:srgbClr val="FFFFFF"/>
                </a:solidFill>
              </a:defRPr>
            </a:pPr>
            <a:r>
              <a:t>Co-simulation verification flow</a:t>
            </a:r>
          </a:p>
          <a:p>
            <a:pPr>
              <a:defRPr sz="1250">
                <a:solidFill>
                  <a:srgbClr val="C4D4E6"/>
                </a:solidFill>
              </a:defRPr>
            </a:pPr>
            <a:r>
              <a:t>Prove the synthesizable tracer reproduces the same commit log as the golden reference — instruction for instruction.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60520" y="1188720"/>
            <a:ext cx="3886200" cy="1005840"/>
          </a:xfrm>
          <a:prstGeom prst="roundRect">
            <a:avLst/>
          </a:prstGeom>
          <a:solidFill>
            <a:srgbClr val="E9ECF1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1400" b="1">
                <a:solidFill>
                  <a:srgbClr val="1F3A5F"/>
                </a:solidFill>
              </a:rPr>
              <a:t>RTL simulation</a:t>
            </a:r>
          </a:p>
          <a:p>
            <a:pPr algn="ctr">
              <a:spcBef>
                <a:spcPts val="100"/>
              </a:spcBef>
            </a:pPr>
            <a:r>
              <a:rPr sz="950">
                <a:solidFill>
                  <a:srgbClr val="404040"/>
                </a:solidFill>
              </a:rPr>
              <a:t>make app=… simc  (QuestaSim)  /  verilate + simv (Verilator)</a:t>
            </a:r>
          </a:p>
          <a:p>
            <a:pPr algn="ctr">
              <a:spcBef>
                <a:spcPts val="100"/>
              </a:spcBef>
            </a:pPr>
            <a:r>
              <a:rPr sz="950">
                <a:solidFill>
                  <a:srgbClr val="404040"/>
                </a:solidFill>
              </a:rPr>
              <a:t>ara_system + CVA6 + bound tracer</a:t>
            </a:r>
          </a:p>
        </p:txBody>
      </p:sp>
      <p:sp>
        <p:nvSpPr>
          <p:cNvPr id="5" name="Folded Corner 4"/>
          <p:cNvSpPr/>
          <p:nvPr/>
        </p:nvSpPr>
        <p:spPr>
          <a:xfrm>
            <a:off x="502920" y="1325880"/>
            <a:ext cx="3108960" cy="731520"/>
          </a:xfrm>
          <a:prstGeom prst="foldedCorner">
            <a:avLst/>
          </a:prstGeom>
          <a:solidFill>
            <a:srgbClr val="EAEAEA"/>
          </a:solidFill>
          <a:ln w="19050">
            <a:solidFill>
              <a:srgbClr val="7777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1200" b="1">
                <a:solidFill>
                  <a:srgbClr val="1F3A5F"/>
                </a:solidFill>
              </a:rPr>
              <a:t>app.elf / riscv-dv  program.hex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611880" y="1691640"/>
            <a:ext cx="548640" cy="0"/>
          </a:xfrm>
          <a:prstGeom prst="line">
            <a:avLst/>
          </a:prstGeom>
          <a:ln w="28575">
            <a:solidFill>
              <a:srgbClr val="2E6DB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Folded Corner 6"/>
          <p:cNvSpPr/>
          <p:nvPr/>
        </p:nvSpPr>
        <p:spPr>
          <a:xfrm>
            <a:off x="2788920" y="2788920"/>
            <a:ext cx="3200400" cy="960120"/>
          </a:xfrm>
          <a:prstGeom prst="foldedCorner">
            <a:avLst/>
          </a:prstGeom>
          <a:solidFill>
            <a:srgbClr val="D9F0D3"/>
          </a:solidFill>
          <a:ln w="19050">
            <a:solidFill>
              <a:srgbClr val="4C9A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1250" b="1">
                <a:solidFill>
                  <a:srgbClr val="1F3A5F"/>
                </a:solidFill>
              </a:rPr>
              <a:t>trace_hart_0_commit.log</a:t>
            </a:r>
          </a:p>
          <a:p>
            <a:pPr algn="ctr">
              <a:spcBef>
                <a:spcPts val="100"/>
              </a:spcBef>
            </a:pPr>
            <a:r>
              <a:rPr sz="950">
                <a:solidFill>
                  <a:srgbClr val="404040"/>
                </a:solidFill>
              </a:rPr>
              <a:t>GOLDEN — original sim tracer</a:t>
            </a:r>
          </a:p>
          <a:p>
            <a:pPr algn="ctr">
              <a:spcBef>
                <a:spcPts val="100"/>
              </a:spcBef>
            </a:pPr>
            <a:r>
              <a:rPr sz="950">
                <a:solidFill>
                  <a:srgbClr val="404040"/>
                </a:solidFill>
              </a:rPr>
              <a:t>(QuestaSim only)</a:t>
            </a:r>
          </a:p>
        </p:txBody>
      </p:sp>
      <p:sp>
        <p:nvSpPr>
          <p:cNvPr id="8" name="Folded Corner 7"/>
          <p:cNvSpPr/>
          <p:nvPr/>
        </p:nvSpPr>
        <p:spPr>
          <a:xfrm>
            <a:off x="6263640" y="2788920"/>
            <a:ext cx="3200400" cy="960120"/>
          </a:xfrm>
          <a:prstGeom prst="foldedCorner">
            <a:avLst/>
          </a:prstGeom>
          <a:solidFill>
            <a:srgbClr val="DCEAFB"/>
          </a:solidFill>
          <a:ln w="19050">
            <a:solidFill>
              <a:srgbClr val="2E6D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1250" b="1">
                <a:solidFill>
                  <a:srgbClr val="1F3A5F"/>
                </a:solidFill>
              </a:rPr>
              <a:t>trace_hart_0_commit.synth.log</a:t>
            </a:r>
          </a:p>
          <a:p>
            <a:pPr algn="ctr">
              <a:spcBef>
                <a:spcPts val="100"/>
              </a:spcBef>
            </a:pPr>
            <a:r>
              <a:rPr sz="950">
                <a:solidFill>
                  <a:srgbClr val="404040"/>
                </a:solidFill>
              </a:rPr>
              <a:t>DUT output — synth tracer sink</a:t>
            </a:r>
          </a:p>
          <a:p>
            <a:pPr algn="ctr">
              <a:spcBef>
                <a:spcPts val="100"/>
              </a:spcBef>
            </a:pPr>
            <a:r>
              <a:rPr sz="950">
                <a:solidFill>
                  <a:srgbClr val="404040"/>
                </a:solidFill>
              </a:rPr>
              <a:t>(Spike commit-log format)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4023360" y="2194560"/>
            <a:ext cx="1051560" cy="594360"/>
          </a:xfrm>
          <a:prstGeom prst="line">
            <a:avLst/>
          </a:prstGeom>
          <a:ln w="25400">
            <a:solidFill>
              <a:srgbClr val="4C9A3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583680" y="2194560"/>
            <a:ext cx="1097280" cy="594360"/>
          </a:xfrm>
          <a:prstGeom prst="line">
            <a:avLst/>
          </a:prstGeom>
          <a:ln w="25400">
            <a:solidFill>
              <a:srgbClr val="2E6DB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709160" y="4160520"/>
            <a:ext cx="2743200" cy="777240"/>
          </a:xfrm>
          <a:prstGeom prst="roundRect">
            <a:avLst/>
          </a:prstGeom>
          <a:solidFill>
            <a:srgbClr val="EFEFEF"/>
          </a:solidFill>
          <a:ln w="1905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1500" b="1">
                <a:solidFill>
                  <a:srgbClr val="1F3A5F"/>
                </a:solidFill>
              </a:rPr>
              <a:t>diff</a:t>
            </a:r>
          </a:p>
          <a:p>
            <a:pPr algn="ctr">
              <a:spcBef>
                <a:spcPts val="100"/>
              </a:spcBef>
            </a:pPr>
            <a:r>
              <a:rPr sz="950">
                <a:solidFill>
                  <a:srgbClr val="404040"/>
                </a:solidFill>
              </a:rPr>
              <a:t>byte-for-byte equal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297680" y="3749039"/>
            <a:ext cx="1280160" cy="411481"/>
          </a:xfrm>
          <a:prstGeom prst="line">
            <a:avLst/>
          </a:prstGeom>
          <a:ln w="25400">
            <a:solidFill>
              <a:srgbClr val="4C9A3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6583680" y="3749039"/>
            <a:ext cx="1280160" cy="411481"/>
          </a:xfrm>
          <a:prstGeom prst="line">
            <a:avLst/>
          </a:prstGeom>
          <a:ln w="25400">
            <a:solidFill>
              <a:srgbClr val="2E6DB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074920" y="5166360"/>
            <a:ext cx="2011680" cy="594360"/>
          </a:xfrm>
          <a:prstGeom prst="roundRect">
            <a:avLst/>
          </a:prstGeom>
          <a:solidFill>
            <a:srgbClr val="D9F0D3"/>
          </a:solidFill>
          <a:ln w="19050">
            <a:solidFill>
              <a:srgbClr val="4C9A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1400" b="1">
                <a:solidFill>
                  <a:srgbClr val="1F3A5F"/>
                </a:solidFill>
              </a:rPr>
              <a:t>PASS / FAIL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80760" y="4937760"/>
            <a:ext cx="0" cy="228600"/>
          </a:xfrm>
          <a:prstGeom prst="line">
            <a:avLst/>
          </a:prstGeom>
          <a:ln w="25400">
            <a:solidFill>
              <a:srgbClr val="40404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8229600" y="2331720"/>
            <a:ext cx="18288" cy="36576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2331720"/>
            <a:ext cx="3657600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</a:rPr>
              <a:t>Alternative golden references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58200" y="2788920"/>
            <a:ext cx="3520440" cy="822960"/>
          </a:xfrm>
          <a:prstGeom prst="roundRect">
            <a:avLst/>
          </a:prstGeom>
          <a:solidFill>
            <a:srgbClr val="D9F0D3"/>
          </a:solidFill>
          <a:ln w="19050">
            <a:solidFill>
              <a:srgbClr val="4C9A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1250" b="1">
                <a:solidFill>
                  <a:srgbClr val="1F3A5F"/>
                </a:solidFill>
              </a:rPr>
              <a:t>Spike ISS co-simulation</a:t>
            </a:r>
          </a:p>
          <a:p>
            <a:pPr algn="ctr">
              <a:spcBef>
                <a:spcPts val="100"/>
              </a:spcBef>
            </a:pPr>
            <a:r>
              <a:rPr sz="900">
                <a:solidFill>
                  <a:srgbClr val="404040"/>
                </a:solidFill>
                <a:latin typeface="Consolas"/>
              </a:rPr>
              <a:t>spike --log-commits app.elf → spike.log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0195560" y="3611880"/>
            <a:ext cx="0" cy="365759"/>
          </a:xfrm>
          <a:prstGeom prst="line">
            <a:avLst/>
          </a:prstGeom>
          <a:ln w="25400">
            <a:solidFill>
              <a:srgbClr val="4C9A3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458200" y="3977639"/>
            <a:ext cx="3520440" cy="914400"/>
          </a:xfrm>
          <a:prstGeom prst="roundRect">
            <a:avLst/>
          </a:prstGeom>
          <a:solidFill>
            <a:srgbClr val="FCE7CE"/>
          </a:solidFill>
          <a:ln w="19050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1250" b="1">
                <a:solidFill>
                  <a:srgbClr val="1F3A5F"/>
                </a:solidFill>
              </a:rPr>
              <a:t>compare_spike_log.py</a:t>
            </a:r>
          </a:p>
          <a:p>
            <a:pPr algn="ctr">
              <a:spcBef>
                <a:spcPts val="100"/>
              </a:spcBef>
            </a:pPr>
            <a:r>
              <a:rPr sz="900">
                <a:solidFill>
                  <a:srgbClr val="404040"/>
                </a:solidFill>
              </a:rPr>
              <a:t>drops disasm / boot-ROM, normalizes</a:t>
            </a:r>
          </a:p>
          <a:p>
            <a:pPr algn="ctr">
              <a:spcBef>
                <a:spcPts val="100"/>
              </a:spcBef>
            </a:pPr>
            <a:r>
              <a:rPr sz="900">
                <a:solidFill>
                  <a:srgbClr val="404040"/>
                </a:solidFill>
              </a:rPr>
              <a:t>regs &amp; CSRs (--ignore-csr-val …)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0195560" y="4892040"/>
            <a:ext cx="0" cy="320040"/>
          </a:xfrm>
          <a:prstGeom prst="line">
            <a:avLst/>
          </a:prstGeom>
          <a:ln w="25400">
            <a:solidFill>
              <a:srgbClr val="40404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052560" y="5212080"/>
            <a:ext cx="2286000" cy="548640"/>
          </a:xfrm>
          <a:prstGeom prst="roundRect">
            <a:avLst/>
          </a:prstGeom>
          <a:solidFill>
            <a:srgbClr val="D9F0D3"/>
          </a:solidFill>
          <a:ln w="19050">
            <a:solidFill>
              <a:srgbClr val="4C9A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1300" b="1">
                <a:solidFill>
                  <a:srgbClr val="1F3A5F"/>
                </a:solidFill>
              </a:rPr>
              <a:t>PASS / FAIL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58200" y="5989320"/>
            <a:ext cx="3566160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950" b="0" i="1">
                <a:solidFill>
                  <a:srgbClr val="404040"/>
                </a:solidFill>
              </a:rPr>
              <a:t>Silicon path: pkt.hex → spike_trace_decode.py → .log → diff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/>
          <a:lstStyle/>
          <a:p>
            <a:pPr algn="ctr">
              <a:defRPr sz="2500" b="1">
                <a:solidFill>
                  <a:srgbClr val="FFFFFF"/>
                </a:solidFill>
              </a:defRPr>
            </a:pPr>
            <a:r>
              <a:t>Files, run commands &amp; caveats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5760720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</a:rPr>
              <a:t>Source files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3657600" cy="2560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100" b="1" i="0">
                <a:solidFill>
                  <a:srgbClr val="2E6DB4"/>
                </a:solidFill>
              </a:rPr>
              <a:t>instr_tracer_synth_pkg.sv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59636"/>
            <a:ext cx="5486400" cy="22860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950" b="0" i="0">
                <a:solidFill>
                  <a:srgbClr val="404040"/>
                </a:solidFill>
              </a:rPr>
              <a:t>binary record format (commit_log_pkt_t / beat)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38528"/>
            <a:ext cx="3657600" cy="2560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100" b="1" i="0">
                <a:solidFill>
                  <a:srgbClr val="2E6DB4"/>
                </a:solidFill>
              </a:rPr>
              <a:t>instr_tracer_synth.sv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35124"/>
            <a:ext cx="5486400" cy="22860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950" b="0" i="0">
                <a:solidFill>
                  <a:srgbClr val="404040"/>
                </a:solidFill>
              </a:rPr>
              <a:t>the tracer: capture, pack, FIFO, ready/valid 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14016"/>
            <a:ext cx="3657600" cy="2560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100" b="1" i="0">
                <a:solidFill>
                  <a:srgbClr val="2E6DB4"/>
                </a:solidFill>
              </a:rPr>
              <a:t>instr_tracer_addr_fifo.sv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10612"/>
            <a:ext cx="5486400" cy="22860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950" b="0" i="0">
                <a:solidFill>
                  <a:srgbClr val="404040"/>
                </a:solidFill>
              </a:rPr>
              <a:t>bounded store/load address-tracking FIFO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89504"/>
            <a:ext cx="3657600" cy="2560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100" b="1" i="0">
                <a:solidFill>
                  <a:srgbClr val="2E6DB4"/>
                </a:solidFill>
              </a:rPr>
              <a:t>instr_tracer_synth_sink.sv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086100"/>
            <a:ext cx="5486400" cy="22860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950" b="0" i="0">
                <a:solidFill>
                  <a:srgbClr val="404040"/>
                </a:solidFill>
              </a:rPr>
              <a:t>sim sink: prints Spike log directly in SV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364992"/>
            <a:ext cx="3657600" cy="2560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100" b="1" i="0">
                <a:solidFill>
                  <a:srgbClr val="2E6DB4"/>
                </a:solidFill>
              </a:rPr>
              <a:t>instr_tracer_synth_tap.sv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561588"/>
            <a:ext cx="5486400" cy="22860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950" b="0" i="0">
                <a:solidFill>
                  <a:srgbClr val="404040"/>
                </a:solidFill>
              </a:rPr>
              <a:t>sim wrapper: tracer + sink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840480"/>
            <a:ext cx="3657600" cy="2560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100" b="1" i="0">
                <a:solidFill>
                  <a:srgbClr val="2E6DB4"/>
                </a:solidFill>
              </a:rPr>
              <a:t>instr_tracer_synth_bind.sv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037076"/>
            <a:ext cx="5486400" cy="22860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950" b="0" i="0">
                <a:solidFill>
                  <a:srgbClr val="404040"/>
                </a:solidFill>
              </a:rPr>
              <a:t>non-invasive bind into `ariane`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315968"/>
            <a:ext cx="3657600" cy="2560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100" b="1" i="0">
                <a:solidFill>
                  <a:srgbClr val="2E6DB4"/>
                </a:solidFill>
              </a:rPr>
              <a:t>tb_ara_system_trace.sv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512564"/>
            <a:ext cx="5486400" cy="22860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950" b="0" i="0">
                <a:solidFill>
                  <a:srgbClr val="404040"/>
                </a:solidFill>
              </a:rPr>
              <a:t>standalone ara_system + tracer testbench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791456"/>
            <a:ext cx="3657600" cy="2560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100" b="1" i="0">
                <a:solidFill>
                  <a:srgbClr val="2E6DB4"/>
                </a:solidFill>
              </a:rPr>
              <a:t>scripts/spike_trace_decode.py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988052"/>
            <a:ext cx="5486400" cy="22860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950" b="0" i="0">
                <a:solidFill>
                  <a:srgbClr val="404040"/>
                </a:solidFill>
              </a:rPr>
              <a:t>off-chip binary → Spike ASCII decoder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266944"/>
            <a:ext cx="3657600" cy="2560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100" b="1" i="0">
                <a:solidFill>
                  <a:srgbClr val="2E6DB4"/>
                </a:solidFill>
              </a:rPr>
              <a:t>scripts/compare_spike_log.py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463540"/>
            <a:ext cx="5486400" cy="22860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950" b="0" i="0">
                <a:solidFill>
                  <a:srgbClr val="404040"/>
                </a:solidFill>
              </a:rPr>
              <a:t>compare against spike --log-commits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1051560"/>
            <a:ext cx="5303520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</a:rPr>
              <a:t>Run (fast path, machine already set up)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92240" y="1463040"/>
            <a:ext cx="5166360" cy="1737360"/>
          </a:xfrm>
          <a:prstGeom prst="rect">
            <a:avLst/>
          </a:prstGeom>
          <a:solidFill>
            <a:srgbClr val="1B2028"/>
          </a:solidFill>
          <a:ln w="19050">
            <a:solidFill>
              <a:srgbClr val="1B20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64008" tIns="91440" bIns="27432"/>
          <a:lstStyle/>
          <a:p>
            <a:pPr algn="ctr"/>
            <a:r>
              <a:rPr sz="1300" b="1">
                <a:solidFill>
                  <a:srgbClr val="1F3A5F"/>
                </a:solidFill>
              </a:rPr>
              <a:t/>
            </a:r>
            <a:r>
              <a:rPr sz="1100">
                <a:solidFill>
                  <a:srgbClr val="8CE09A"/>
                </a:solidFill>
                <a:latin typeface="Consolas"/>
              </a:rPr>
              <a:t>make -C apps bin/hello_world</a:t>
            </a:r>
          </a:p>
          <a:p>
            <a:r>
              <a:rPr sz="1100">
                <a:solidFill>
                  <a:srgbClr val="8CE09A"/>
                </a:solidFill>
                <a:latin typeface="Consolas"/>
              </a:rPr>
              <a:t>make -C hardware app=hello_world simc</a:t>
            </a:r>
          </a:p>
          <a:p>
            <a:r>
              <a:rPr sz="1100">
                <a:solidFill>
                  <a:srgbClr val="8CE09A"/>
                </a:solidFill>
                <a:latin typeface="Consolas"/>
              </a:rPr>
              <a:t>cd hardware/build</a:t>
            </a:r>
          </a:p>
          <a:p>
            <a:r>
              <a:rPr sz="1100">
                <a:solidFill>
                  <a:srgbClr val="8CE09A"/>
                </a:solidFill>
                <a:latin typeface="Consolas"/>
              </a:rPr>
              <a:t>diff trace_hart_0_commit.log \</a:t>
            </a:r>
          </a:p>
          <a:p>
            <a:r>
              <a:rPr sz="1100">
                <a:solidFill>
                  <a:srgbClr val="8CE09A"/>
                </a:solidFill>
                <a:latin typeface="Consolas"/>
              </a:rPr>
              <a:t>     trace_hart_0_commit.synth.log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429000"/>
            <a:ext cx="5303520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</a:rPr>
              <a:t>Caveats (non-invasive tracer)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384048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2E6DB4"/>
                </a:solidFill>
              </a:rPr>
              <a:t>▸ </a:t>
            </a:r>
            <a:r>
              <a:rPr sz="1050">
                <a:solidFill>
                  <a:srgbClr val="404040"/>
                </a:solidFill>
              </a:rPr>
              <a:t>CSR write value is reconstructed PRE-WARL mask → WARL CSRs may differ from Spike's post-WARL value (use --ignore-csr-val).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4498848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2E6DB4"/>
                </a:solidFill>
              </a:rPr>
              <a:t>▸ </a:t>
            </a:r>
            <a:r>
              <a:rPr sz="1050">
                <a:solidFill>
                  <a:srgbClr val="404040"/>
                </a:solidFill>
              </a:rPr>
              <a:t>Store data is un-rotated (byte_ror64) to undo CVA6 data_align before slicing.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5157216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2E6DB4"/>
                </a:solidFill>
              </a:rPr>
              <a:t>▸ </a:t>
            </a:r>
            <a:r>
              <a:rPr sz="1050">
                <a:solidFill>
                  <a:srgbClr val="404040"/>
                </a:solidFill>
              </a:rPr>
              <a:t>Exceptions/interrupts always reported on port 0; debug-mode BREAKPOINT suppressed.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5815583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2E6DB4"/>
                </a:solidFill>
              </a:rPr>
              <a:t>▸ </a:t>
            </a:r>
            <a:r>
              <a:rPr sz="1050">
                <a:solidFill>
                  <a:srgbClr val="404040"/>
                </a:solidFill>
              </a:rPr>
              <a:t>overflow_o pulses if the trace FIFO (or an addr FIFO) over/underflows → trace no longer gap-free; raise FifoDepth.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