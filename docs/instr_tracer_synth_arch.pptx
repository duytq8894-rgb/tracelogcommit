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0058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Synthesizable Instruction Tracer for CVA6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10698480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2000" b="0" i="0">
                <a:solidFill>
                  <a:srgbClr val="BFD2E8"/>
                </a:solidFill>
              </a:rPr>
              <a:t>Architecture  &amp;  Spike Co-Simulation Verification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83280"/>
            <a:ext cx="10698480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450" b="0" i="0">
                <a:solidFill>
                  <a:srgbClr val="D8E2EF"/>
                </a:solidFill>
              </a:rPr>
              <a:t>instr_tracer_synth  —  a hardware-implementable re-creation of CVA6's simulation-only instr_tracer
that reproduces the exact riscv::spikeCommitLog() commit log using only synthesizable RTL.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106984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0" i="0">
                <a:solidFill>
                  <a:srgbClr val="90A6C0"/>
                </a:solidFill>
              </a:rPr>
              <a:t>hardware/src/trace/  ·  ara  ·  CVA6 + Ara vector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Concept: split the problem on-chip / off-chip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Hardware cannot synthesize ASCII strings or file I/O — so the chip captures + packs; the host decodes.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4206240" cy="155448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1F3A5F"/>
                </a:solidFill>
              </a:rPr>
              <a:t>ON-CHIP  (synthesizable)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Capture retiring instructions at the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commit stage → pack into a fixed-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layout binary record + stream out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(instr_tracer_synth.sv)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63040"/>
            <a:ext cx="4206240" cy="1554480"/>
          </a:xfrm>
          <a:prstGeom prst="roundRect">
            <a:avLst/>
          </a:prstGeom>
          <a:solidFill>
            <a:srgbClr val="FCE7CE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1F3A5F"/>
                </a:solidFill>
              </a:rPr>
              <a:t>OFF-CHIP  (host)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Decode the binary stream into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Spike-format ASCII commit log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(scripts/spike_trace_decode.py,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or the SystemVerilog sim sink)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2240280"/>
            <a:ext cx="2468880" cy="0"/>
          </a:xfrm>
          <a:prstGeom prst="line">
            <a:avLst/>
          </a:prstGeom>
          <a:ln w="34925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0" y="1874519"/>
            <a:ext cx="26517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00" b="1" i="0">
                <a:solidFill>
                  <a:srgbClr val="2E6DB4"/>
                </a:solidFill>
              </a:rPr>
              <a:t>binary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9728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</a:rPr>
              <a:t>Non-synthesizable construct  →  synthesizable equivalent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88620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035040"/>
              </a:tblGrid>
              <a:tr h="3086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simulation tracer (NOT synthesizable)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instr_tracer_synth (synthesizable)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SystemVerilog class / 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E6DB4"/>
                          </a:solidFill>
                          <a:latin typeface="Consolas"/>
                        </a:defRPr>
                      </a:pPr>
                      <a:r>
                        <a:t>packed struct  commit_log_pkt_t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dynamic queue  logic[..][$]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E6DB4"/>
                          </a:solidFill>
                          <a:latin typeface="Consolas"/>
                        </a:defRPr>
                      </a:pPr>
                      <a:r>
                        <a:t>fixed-depth HW FIFO (fifo_v3 / addr_fifo)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string + $sformatf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E6DB4"/>
                          </a:solidFill>
                          <a:latin typeface="Consolas"/>
                        </a:defRPr>
                      </a:pPr>
                      <a:r>
                        <a:t>fixed-layout binary record (300 bit @XLEN=64)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$fopen / $fwrite / $fclose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E6DB4"/>
                          </a:solidFill>
                          <a:latin typeface="Consolas"/>
                        </a:defRPr>
                      </a:pPr>
                      <a:r>
                        <a:t>ready / valid streaming port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interface + clocking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E6DB4"/>
                          </a:solidFill>
                          <a:latin typeface="Consolas"/>
                        </a:defRPr>
                      </a:pPr>
                      <a:r>
                        <a:t>plain module ports (packed struct)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initial / forever / task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E6DB4"/>
                          </a:solidFill>
                          <a:latin typeface="Consolas"/>
                        </a:defRPr>
                      </a:pPr>
                      <a:r>
                        <a:t>always_ff / always_comb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gp_reg_file / fp_reg_file shadow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E6DB4"/>
                          </a:solidFill>
                          <a:latin typeface="Consolas"/>
                        </a:defRPr>
                      </a:pPr>
                      <a:r>
                        <a:t>synthesizable gp/fp_reg_file_q[32]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Module pinout  —  every input / output pin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4 input groups (left) feed the tracer; the ready/valid trace-out port (right) streams packed beats.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tr_tracer_synth_pin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93267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72200" y="1143000"/>
            <a:ext cx="5715000" cy="841248"/>
          </a:xfrm>
          <a:prstGeom prst="roundRect">
            <a:avLst/>
          </a:prstGeom>
          <a:solidFill>
            <a:srgbClr val="ECECEC"/>
          </a:solidFill>
          <a:ln w="19050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00" b="1">
                <a:solidFill>
                  <a:srgbClr val="1F3A5F"/>
                </a:solidFill>
              </a:rPr>
              <a:t>CLOCK / RESET / CONTROL    (4 in)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clk_i · rst_ni · flush_i · testmode_i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103120"/>
            <a:ext cx="5715000" cy="1170432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00" b="1">
                <a:solidFill>
                  <a:srgbClr val="1F3A5F"/>
                </a:solidFill>
              </a:rPr>
              <a:t>COMMIT-STAGE OBSERVATION    (10 in)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commit_instr_i · commit_ack_i · instr_word_i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waddr_i · wdata_i · we_gpr_i · we_fpr_i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priv_lvl_i · debug_mode_i · exception_i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392424"/>
            <a:ext cx="5715000" cy="914400"/>
          </a:xfrm>
          <a:prstGeom prst="roundRect">
            <a:avLst/>
          </a:prstGeom>
          <a:solidFill>
            <a:srgbClr val="EEE6F7"/>
          </a:solidFill>
          <a:ln w="19050">
            <a:solidFill>
              <a:srgbClr val="78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00" b="1">
                <a:solidFill>
                  <a:srgbClr val="1F3A5F"/>
                </a:solidFill>
              </a:rPr>
              <a:t>CSR WRITE OBSERVATION    (5 in)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csr_commit_i · csr_op_i · csr_waddr_i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csr_operand_i · csr_old_i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425696"/>
            <a:ext cx="5715000" cy="914400"/>
          </a:xfrm>
          <a:prstGeom prst="roundRect">
            <a:avLst/>
          </a:prstGeom>
          <a:solidFill>
            <a:srgbClr val="FCEEDC"/>
          </a:solidFill>
          <a:ln w="19050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00" b="1">
                <a:solidFill>
                  <a:srgbClr val="1F3A5F"/>
                </a:solidFill>
              </a:rPr>
              <a:t>LSU MEMORY-ACCESS OBSERVATION    (9 in)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st_valid/paddr/data/size_i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ld_valid/kill/paddr/size_i · flush_addr_i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458968"/>
            <a:ext cx="5715000" cy="914400"/>
          </a:xfrm>
          <a:prstGeom prst="roundRect">
            <a:avLst/>
          </a:prstGeom>
          <a:solidFill>
            <a:srgbClr val="D9F0D3"/>
          </a:solidFill>
          <a:ln w="19050">
            <a:solidFill>
              <a:srgbClr val="4C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00" b="1">
                <a:solidFill>
                  <a:srgbClr val="1F3A5F"/>
                </a:solidFill>
              </a:rPr>
              <a:t>STREAMING TRACE-OUT    (3 out + 1 in)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trace_valid_o · trace_beat_o · overflow_o    (out)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  <a:latin typeface="Consolas"/>
              </a:rPr>
              <a:t>trace_ready_i    (in, back-pressure)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Internal microarchitecture  —  the beat builder &amp; its two memories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One combinational beat builder reads the live commit signals + two on-chip memories; a FIFO then streams the result out.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897880"/>
            <a:ext cx="237744" cy="237744"/>
          </a:xfrm>
          <a:prstGeom prst="roundRect">
            <a:avLst/>
          </a:prstGeom>
          <a:solidFill>
            <a:srgbClr val="E9ECF1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879592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9636" y="5897880"/>
            <a:ext cx="237744" cy="237744"/>
          </a:xfrm>
          <a:prstGeom prst="roundRect">
            <a:avLst/>
          </a:prstGeom>
          <a:solidFill>
            <a:srgbClr val="FCEFD9"/>
          </a:solidFill>
          <a:ln w="15875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52243" y="5879592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5204" y="5897880"/>
            <a:ext cx="237744" cy="237744"/>
          </a:xfrm>
          <a:prstGeom prst="roundRect">
            <a:avLst/>
          </a:prstGeom>
          <a:solidFill>
            <a:srgbClr val="C9DEF7"/>
          </a:solidFill>
          <a:ln w="1587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7812" y="5879592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beat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078992"/>
            <a:ext cx="2468880" cy="868680"/>
          </a:xfrm>
          <a:prstGeom prst="roundRect">
            <a:avLst/>
          </a:prstGeom>
          <a:solidFill>
            <a:srgbClr val="E9EC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Write-back bus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waddr · wdata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we_gpr / we_fpr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78992"/>
            <a:ext cx="3319272" cy="868680"/>
          </a:xfrm>
          <a:prstGeom prst="roundRect">
            <a:avLst/>
          </a:prstGeom>
          <a:solidFill>
            <a:srgbClr val="E9EC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commit-stage signals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commit_instr · instr_word · commit_ack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priv · debug · exception_i · csr_*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078992"/>
            <a:ext cx="2468880" cy="868680"/>
          </a:xfrm>
          <a:prstGeom prst="roundRect">
            <a:avLst/>
          </a:prstGeom>
          <a:solidFill>
            <a:srgbClr val="E9EC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LSU addresses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st_valid/paddr/data/size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ld_valid/kill/paddr/size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31720"/>
            <a:ext cx="2468880" cy="1783080"/>
          </a:xfrm>
          <a:prstGeom prst="roundRect">
            <a:avLst/>
          </a:prstGeom>
          <a:solidFill>
            <a:srgbClr val="FCEFD9"/>
          </a:solidFill>
          <a:ln w="19050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Shadow regfile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gp / fp_reg_file_q[32]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always_ff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recovers rd's value when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it isn't on the write-back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bus this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240280"/>
            <a:ext cx="3044952" cy="2057400"/>
          </a:xfrm>
          <a:prstGeom prst="roundRect">
            <a:avLst/>
          </a:prstGeom>
          <a:solidFill>
            <a:srgbClr val="C9DEF7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1F3A5F"/>
                </a:solidFill>
              </a:rPr>
              <a:t>BEAT  BUILDER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always_comb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per-port packet: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priv·pc·instr·rd·we·wdata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compressed · retired · mem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port-0 overrides:  exception · CSR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→  commit_log_beat_t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331720"/>
            <a:ext cx="2468880" cy="1783080"/>
          </a:xfrm>
          <a:prstGeom prst="roundRect">
            <a:avLst/>
          </a:prstGeom>
          <a:solidFill>
            <a:srgbClr val="FCEFD9"/>
          </a:solidFill>
          <a:ln w="19050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Address FIFOs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store + load · depth 16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+ byte_ror64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realign LSU addresses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to commit 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74519" y="1947672"/>
            <a:ext cx="0" cy="384048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4476" y="1947672"/>
            <a:ext cx="0" cy="292608"/>
          </a:xfrm>
          <a:prstGeom prst="line">
            <a:avLst/>
          </a:prstGeom>
          <a:ln w="3048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32720" y="1947672"/>
            <a:ext cx="0" cy="384048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3063240"/>
            <a:ext cx="1463040" cy="0"/>
          </a:xfrm>
          <a:prstGeom prst="line">
            <a:avLst/>
          </a:prstGeom>
          <a:ln w="27940">
            <a:solidFill>
              <a:srgbClr val="C4761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08960" y="2761488"/>
            <a:ext cx="14630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000" b="1" i="0">
                <a:solidFill>
                  <a:srgbClr val="C4761C"/>
                </a:solidFill>
              </a:rPr>
              <a:t>reg[rd]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616952" y="3063240"/>
            <a:ext cx="1481328" cy="0"/>
          </a:xfrm>
          <a:prstGeom prst="line">
            <a:avLst/>
          </a:prstGeom>
          <a:ln w="27940">
            <a:solidFill>
              <a:srgbClr val="C4761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16952" y="2761488"/>
            <a:ext cx="148132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1" i="0">
                <a:solidFill>
                  <a:srgbClr val="C4761C"/>
                </a:solidFill>
              </a:rPr>
              <a:t>mem addr / data / size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6952" y="3703320"/>
            <a:ext cx="1481328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16952" y="3730752"/>
            <a:ext cx="148132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pop @ commit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572000"/>
            <a:ext cx="3044952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Trace FIFO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fifo_v3 · depth 32   ·   push = |valid &amp; ~full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5577840"/>
            <a:ext cx="3044952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Trace-out port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ready / valid   ·   trace_valid_o · trace_beat_o · trace_ready_i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572000"/>
            <a:ext cx="2560320" cy="777240"/>
          </a:xfrm>
          <a:prstGeom prst="roundRect">
            <a:avLst/>
          </a:prstGeom>
          <a:solidFill>
            <a:srgbClr val="FDDDD6"/>
          </a:solidFill>
          <a:ln w="19050">
            <a:solidFill>
              <a:srgbClr val="C8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>overflow_o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FIFO full → trace gap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4476" y="4297680"/>
            <a:ext cx="0" cy="274320"/>
          </a:xfrm>
          <a:prstGeom prst="line">
            <a:avLst/>
          </a:prstGeom>
          <a:ln w="3302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4476" y="5349240"/>
            <a:ext cx="0" cy="228600"/>
          </a:xfrm>
          <a:prstGeom prst="line">
            <a:avLst/>
          </a:prstGeom>
          <a:ln w="3302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16952" y="4956048"/>
            <a:ext cx="795528" cy="0"/>
          </a:xfrm>
          <a:prstGeom prst="line">
            <a:avLst/>
          </a:prstGeom>
          <a:ln w="22225">
            <a:solidFill>
              <a:srgbClr val="C84A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16952" y="4663440"/>
            <a:ext cx="795528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1" i="0">
                <a:solidFill>
                  <a:srgbClr val="C84A33"/>
                </a:solidFill>
              </a:rPr>
              <a:t>full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Detailed datapath  —  sub-blocks &amp; signals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Same flanked-builder view, zoomed in: value recovery on the left, memory re-alignment on the right, block-by-block.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170432"/>
            <a:ext cx="237744" cy="237744"/>
          </a:xfrm>
          <a:prstGeom prst="roundRect">
            <a:avLst/>
          </a:prstGeom>
          <a:solidFill>
            <a:srgbClr val="ECEEF2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93876" y="1170432"/>
            <a:ext cx="237744" cy="237744"/>
          </a:xfrm>
          <a:prstGeom prst="roundRect">
            <a:avLst/>
          </a:prstGeom>
          <a:solidFill>
            <a:srgbClr val="FCEFD9"/>
          </a:solidFill>
          <a:ln w="15875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6484" y="1152144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9444" y="1170432"/>
            <a:ext cx="237744" cy="237744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1" y="1152144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70432"/>
            <a:ext cx="237744" cy="237744"/>
          </a:xfrm>
          <a:prstGeom prst="roundRect">
            <a:avLst/>
          </a:prstGeom>
          <a:solidFill>
            <a:srgbClr val="C9DEF7"/>
          </a:solidFill>
          <a:ln w="1587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152144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beat 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920240"/>
            <a:ext cx="2057400" cy="2560320"/>
          </a:xfrm>
          <a:prstGeom prst="roundRect">
            <a:avLst/>
          </a:prstGeom>
          <a:solidFill>
            <a:srgbClr val="C9DEF7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>BEAT  BUILDER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always_comb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builds beat.pkt[p]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for both ports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+ port-0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exception / CSR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drives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st_pop / ld_pop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/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beat.valid =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  commit_ack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005840"/>
            <a:ext cx="2697480" cy="749808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1F3A5F"/>
                </a:solidFill>
              </a:rPr>
              <a:t>commit-stage signals</a:t>
            </a:r>
          </a:p>
          <a:p>
            <a:pPr algn="ctr">
              <a:spcBef>
                <a:spcPts val="100"/>
              </a:spcBef>
            </a:pPr>
            <a:r>
              <a:rPr sz="780">
                <a:solidFill>
                  <a:srgbClr val="404040"/>
                </a:solidFill>
                <a:latin typeface="Consolas"/>
              </a:rPr>
              <a:t>commit_instr · instr_word · priv · debug</a:t>
            </a:r>
          </a:p>
          <a:p>
            <a:pPr algn="ctr">
              <a:spcBef>
                <a:spcPts val="100"/>
              </a:spcBef>
            </a:pPr>
            <a:r>
              <a:rPr sz="780">
                <a:solidFill>
                  <a:srgbClr val="404040"/>
                </a:solidFill>
                <a:latin typeface="Consolas"/>
              </a:rPr>
              <a:t>exception_i · csr_*   (→ port 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03620" y="1755648"/>
            <a:ext cx="0" cy="164592"/>
          </a:xfrm>
          <a:prstGeom prst="line">
            <a:avLst/>
          </a:prstGeom>
          <a:ln w="2794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" y="2331720"/>
            <a:ext cx="1417320" cy="868680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>
                <a:solidFill>
                  <a:srgbClr val="1F3A5F"/>
                </a:solidFill>
              </a:rPr>
              <a:t>Write-back bus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  <a:latin typeface="Consolas"/>
              </a:rPr>
              <a:t>we_gpr_i / we_fpr_i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  <a:latin typeface="Consolas"/>
              </a:rPr>
              <a:t>waddr_i · wdata_i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10512" y="2331720"/>
            <a:ext cx="1508760" cy="868680"/>
          </a:xfrm>
          <a:prstGeom prst="roundRect">
            <a:avLst/>
          </a:prstGeom>
          <a:solidFill>
            <a:srgbClr val="FCEFD9"/>
          </a:solidFill>
          <a:ln w="19050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>
                <a:solidFill>
                  <a:srgbClr val="1F3A5F"/>
                </a:solidFill>
              </a:rPr>
              <a:t>Shadow GP/FP regfile</a:t>
            </a:r>
          </a:p>
          <a:p>
            <a:pPr algn="ctr">
              <a:spcBef>
                <a:spcPts val="100"/>
              </a:spcBef>
            </a:pPr>
            <a:r>
              <a:rPr sz="780">
                <a:solidFill>
                  <a:srgbClr val="404040"/>
                </a:solidFill>
              </a:rPr>
              <a:t>gp/fp_reg_file_q[32]</a:t>
            </a:r>
          </a:p>
          <a:p>
            <a:pPr algn="ctr">
              <a:spcBef>
                <a:spcPts val="100"/>
              </a:spcBef>
            </a:pPr>
            <a:r>
              <a:rPr sz="780">
                <a:solidFill>
                  <a:srgbClr val="404040"/>
                </a:solidFill>
              </a:rPr>
              <a:t>always_ff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2286000"/>
            <a:ext cx="1298448" cy="96012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>
                <a:solidFill>
                  <a:srgbClr val="1F3A5F"/>
                </a:solidFill>
              </a:rPr>
              <a:t>Result MUX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  <a:latin typeface="Consolas"/>
              </a:rPr>
              <a:t>we ? wdata_i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  <a:latin typeface="Consolas"/>
              </a:rPr>
              <a:t> : rd_fpr ? fp[rd]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  <a:latin typeface="Consolas"/>
              </a:rPr>
              <a:t> :          gp[rd]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91640" y="2761488"/>
            <a:ext cx="118872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19272" y="2761488"/>
            <a:ext cx="1371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62072" y="2432304"/>
            <a:ext cx="914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50" b="0" i="0">
                <a:solidFill>
                  <a:srgbClr val="C4761C"/>
                </a:solidFill>
              </a:rPr>
              <a:t>reg[rd]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54880" y="2761488"/>
            <a:ext cx="320040" cy="27432"/>
          </a:xfrm>
          <a:prstGeom prst="line">
            <a:avLst/>
          </a:prstGeom>
          <a:ln w="2540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34840" y="2414016"/>
            <a:ext cx="914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800" b="0" i="0">
                <a:solidFill>
                  <a:srgbClr val="2E6DB4"/>
                </a:solidFill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310128"/>
            <a:ext cx="457200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50" b="0" i="1">
                <a:solidFill>
                  <a:srgbClr val="2E6DB4"/>
                </a:solidFill>
              </a:rPr>
              <a:t>→ recovers rd's committed value when it is not on the write-back bus this cycle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331720"/>
            <a:ext cx="1234440" cy="86868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>
                <a:solidFill>
                  <a:srgbClr val="1F3A5F"/>
                </a:solidFill>
              </a:rPr>
              <a:t>byte_ror64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</a:rPr>
              <a:t>undo data_align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</a:rPr>
              <a:t>(rotate right)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2331720"/>
            <a:ext cx="1554480" cy="868680"/>
          </a:xfrm>
          <a:prstGeom prst="roundRect">
            <a:avLst/>
          </a:prstGeom>
          <a:solidFill>
            <a:srgbClr val="FCEFD9"/>
          </a:solidFill>
          <a:ln w="19050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>
                <a:solidFill>
                  <a:srgbClr val="1F3A5F"/>
                </a:solidFill>
              </a:rPr>
              <a:t>Store addr FIFO</a:t>
            </a:r>
          </a:p>
          <a:p>
            <a:pPr algn="ctr">
              <a:spcBef>
                <a:spcPts val="100"/>
              </a:spcBef>
            </a:pPr>
            <a:r>
              <a:rPr sz="780">
                <a:solidFill>
                  <a:srgbClr val="404040"/>
                </a:solidFill>
              </a:rPr>
              <a:t>addr_fifo · depth 16</a:t>
            </a:r>
          </a:p>
          <a:p>
            <a:pPr algn="ctr">
              <a:spcBef>
                <a:spcPts val="100"/>
              </a:spcBef>
            </a:pPr>
            <a:r>
              <a:rPr sz="780">
                <a:solidFill>
                  <a:srgbClr val="404040"/>
                </a:solidFill>
              </a:rPr>
              <a:t>pop 0 /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2331720"/>
            <a:ext cx="1371600" cy="868680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>
                <a:solidFill>
                  <a:srgbClr val="1F3A5F"/>
                </a:solidFill>
              </a:rPr>
              <a:t>Store gen (LSU)</a:t>
            </a:r>
          </a:p>
          <a:p>
            <a:pPr algn="ctr">
              <a:spcBef>
                <a:spcPts val="100"/>
              </a:spcBef>
            </a:pPr>
            <a:r>
              <a:rPr sz="740">
                <a:solidFill>
                  <a:srgbClr val="404040"/>
                </a:solidFill>
                <a:latin typeface="Consolas"/>
              </a:rPr>
              <a:t>st_valid_i</a:t>
            </a:r>
          </a:p>
          <a:p>
            <a:pPr algn="ctr">
              <a:spcBef>
                <a:spcPts val="100"/>
              </a:spcBef>
            </a:pPr>
            <a:r>
              <a:rPr sz="740">
                <a:solidFill>
                  <a:srgbClr val="404040"/>
                </a:solidFill>
                <a:latin typeface="Consolas"/>
              </a:rPr>
              <a:t>st_paddr/data/size_i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0378440" y="2761488"/>
            <a:ext cx="1371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686800" y="2761488"/>
            <a:ext cx="1371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21040" y="2432304"/>
            <a:ext cx="914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00" b="0" i="0">
                <a:solidFill>
                  <a:srgbClr val="C4761C"/>
                </a:solidFill>
              </a:rPr>
              <a:t>dout0.data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132320" y="2788920"/>
            <a:ext cx="320040" cy="0"/>
          </a:xfrm>
          <a:prstGeom prst="line">
            <a:avLst/>
          </a:prstGeom>
          <a:ln w="25400">
            <a:solidFill>
              <a:srgbClr val="C4761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03720" y="2414016"/>
            <a:ext cx="914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800" b="0" i="0">
                <a:solidFill>
                  <a:srgbClr val="C4761C"/>
                </a:solidFill>
              </a:rPr>
              <a:t>mem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3429000"/>
            <a:ext cx="1554480" cy="868680"/>
          </a:xfrm>
          <a:prstGeom prst="roundRect">
            <a:avLst/>
          </a:prstGeom>
          <a:solidFill>
            <a:srgbClr val="FCEFD9"/>
          </a:solidFill>
          <a:ln w="19050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>
                <a:solidFill>
                  <a:srgbClr val="1F3A5F"/>
                </a:solidFill>
              </a:rPr>
              <a:t>Load addr FIFO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</a:rPr>
              <a:t>addr_fifo · depth 16</a:t>
            </a:r>
          </a:p>
          <a:p>
            <a:pPr algn="ctr">
              <a:spcBef>
                <a:spcPts val="100"/>
              </a:spcBef>
            </a:pPr>
            <a:r>
              <a:rPr sz="760">
                <a:solidFill>
                  <a:srgbClr val="404040"/>
                </a:solidFill>
              </a:rPr>
              <a:t>pop 0..2 · data0/1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3429000"/>
            <a:ext cx="1371600" cy="868680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00" b="1">
                <a:solidFill>
                  <a:srgbClr val="1F3A5F"/>
                </a:solidFill>
              </a:rPr>
              <a:t>Load gen (LSU)</a:t>
            </a:r>
          </a:p>
          <a:p>
            <a:pPr algn="ctr">
              <a:spcBef>
                <a:spcPts val="100"/>
              </a:spcBef>
            </a:pPr>
            <a:r>
              <a:rPr sz="720">
                <a:solidFill>
                  <a:srgbClr val="404040"/>
                </a:solidFill>
                <a:latin typeface="Consolas"/>
              </a:rPr>
              <a:t>ld_valid_i &amp; ~ld_kill_i</a:t>
            </a:r>
          </a:p>
          <a:p>
            <a:pPr algn="ctr">
              <a:spcBef>
                <a:spcPts val="100"/>
              </a:spcBef>
            </a:pPr>
            <a:r>
              <a:rPr sz="720">
                <a:solidFill>
                  <a:srgbClr val="404040"/>
                </a:solidFill>
                <a:latin typeface="Consolas"/>
              </a:rPr>
              <a:t>ld_paddr/size_i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0378440" y="3858768"/>
            <a:ext cx="137160" cy="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7132320" y="3840480"/>
            <a:ext cx="1691640" cy="18288"/>
          </a:xfrm>
          <a:prstGeom prst="line">
            <a:avLst/>
          </a:prstGeom>
          <a:ln w="25400">
            <a:solidFill>
              <a:srgbClr val="C4761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69480" y="3493008"/>
            <a:ext cx="15544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50" b="0" i="0">
                <a:solidFill>
                  <a:srgbClr val="C4761C"/>
                </a:solidFill>
              </a:rPr>
              <a:t>ld_dout0/1 → mem_addr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89120"/>
            <a:ext cx="47548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50" b="0" i="1">
                <a:solidFill>
                  <a:srgbClr val="2E6DB4"/>
                </a:solidFill>
              </a:rPr>
              <a:t>→ FIFOs realign out-of-order LSU addresses; popped at commit by st_pop / ld_pop (0..2)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4800600"/>
            <a:ext cx="2514600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1F3A5F"/>
                </a:solidFill>
              </a:rPr>
              <a:t>Trace FIFO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404040"/>
                </a:solidFill>
              </a:rPr>
              <a:t>fifo_v3 · depth 32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404040"/>
                </a:solidFill>
              </a:rPr>
              <a:t>push=|valid&amp;~full · pop=valid&amp;ready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5806440"/>
            <a:ext cx="2514600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1F3A5F"/>
                </a:solidFill>
              </a:rPr>
              <a:t>Trace-out port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404040"/>
                </a:solidFill>
              </a:rPr>
              <a:t>trace_valid_o=~empty (out) · trace_beat_o (out)</a:t>
            </a: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404040"/>
                </a:solidFill>
              </a:rPr>
              <a:t>trace_ready_i (in)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4800600"/>
            <a:ext cx="2468880" cy="777240"/>
          </a:xfrm>
          <a:prstGeom prst="roundRect">
            <a:avLst/>
          </a:prstGeom>
          <a:solidFill>
            <a:srgbClr val="FDDDD6"/>
          </a:solidFill>
          <a:ln w="19050">
            <a:solidFill>
              <a:srgbClr val="C8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1F3A5F"/>
                </a:solidFill>
              </a:rPr>
              <a:t>overflow_o   (out)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(any_valid &amp; full)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</a:rPr>
              <a:t>| st/ld of | uf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03620" y="4480560"/>
            <a:ext cx="0" cy="320040"/>
          </a:xfrm>
          <a:prstGeom prst="line">
            <a:avLst/>
          </a:prstGeom>
          <a:ln w="3302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03620" y="5577840"/>
            <a:ext cx="0" cy="228600"/>
          </a:xfrm>
          <a:prstGeom prst="line">
            <a:avLst/>
          </a:prstGeom>
          <a:ln w="3302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60920" y="5184648"/>
            <a:ext cx="502920" cy="0"/>
          </a:xfrm>
          <a:prstGeom prst="line">
            <a:avLst/>
          </a:prstGeom>
          <a:ln w="22225">
            <a:solidFill>
              <a:srgbClr val="C84A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60920" y="4901184"/>
            <a:ext cx="5029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850" b="1" i="0">
                <a:solidFill>
                  <a:srgbClr val="C84A33"/>
                </a:solidFill>
              </a:rPr>
              <a:t>full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What goes into one trace record  &amp;  the 3 packing rules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Each retired instruction becomes a packed commit_log_pkt_t; two of them form a beat (program order kept).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394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</a:rPr>
              <a:t>One beat  =  commit_log_beat_t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257800" cy="713232"/>
          </a:xfrm>
          <a:prstGeom prst="roundRect">
            <a:avLst/>
          </a:prstGeom>
          <a:solidFill>
            <a:srgbClr val="E9EC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commit_log_beat_t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valid[NR_COMMIT_PORTS]   +   2 × commit_log_pkt_t   (port 0 = older)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221992"/>
            <a:ext cx="0" cy="26517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542032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86200"/>
              </a:tblGrid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fields of commit_log_pkt_t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A5F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priv · debug · retired · compressed · rd (+rd_fpr) · pc · instr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A5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we · wdata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A5F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ex_valid · cause · tval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A5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mem_op · mem_addr · mem_data · mem_size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3A5F"/>
                          </a:solidFill>
                        </a:defRPr>
                      </a:pPr>
                      <a:r>
                        <a:t>CSR write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  <a:latin typeface="Consolas"/>
                        </a:defRPr>
                      </a:pPr>
                      <a:r>
                        <a:t>csr_we · csr_addr · csr_wdata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440680"/>
            <a:ext cx="52578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 i="1">
                <a:solidFill>
                  <a:srgbClr val="404040"/>
                </a:solidFill>
              </a:rPr>
              <a:t>300 bits @ XLEN=64  ·  packed MSB-first in declaration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5778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</a:rPr>
              <a:t>How each field is filled  —  3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36192"/>
            <a:ext cx="5577840" cy="118872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50" b="1">
                <a:solidFill>
                  <a:srgbClr val="1F3A5F"/>
                </a:solidFill>
              </a:rPr>
              <a:t>Rule 1   Result value  (a 3-way mux)</a:t>
            </a:r>
          </a:p>
          <a:p>
            <a:pPr algn="l">
              <a:spcBef>
                <a:spcPts val="100"/>
              </a:spcBef>
            </a:pPr>
            <a:r>
              <a:rPr sz="969">
                <a:solidFill>
                  <a:srgbClr val="404040"/>
                </a:solidFill>
                <a:latin typeface="Consolas"/>
              </a:rPr>
              <a:t>we_gpr | we_fpr  →  wdata_i   (written this cycle)</a:t>
            </a:r>
          </a:p>
          <a:p>
            <a:pPr algn="l">
              <a:spcBef>
                <a:spcPts val="100"/>
              </a:spcBef>
            </a:pPr>
            <a:r>
              <a:rPr sz="969">
                <a:solidFill>
                  <a:srgbClr val="404040"/>
                </a:solidFill>
                <a:latin typeface="Consolas"/>
              </a:rPr>
              <a:t>else rd is FPR   →  fp_reg_file_q[rd]</a:t>
            </a:r>
          </a:p>
          <a:p>
            <a:pPr algn="l">
              <a:spcBef>
                <a:spcPts val="100"/>
              </a:spcBef>
            </a:pPr>
            <a:r>
              <a:rPr sz="969">
                <a:solidFill>
                  <a:srgbClr val="404040"/>
                </a:solidFill>
                <a:latin typeface="Consolas"/>
              </a:rPr>
              <a:t>else             →  gp_reg_file_q[rd]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852928"/>
            <a:ext cx="5577840" cy="141732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50" b="1">
                <a:solidFill>
                  <a:srgbClr val="1F3A5F"/>
                </a:solidFill>
              </a:rPr>
              <a:t>Rule 2   Memory token  ( “mem 0x..” )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commit &amp; STORE (non-AMO) → MEM_STORE, pop store FIFO,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                          data via byte_ror64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commit &amp; LOAD            → MEM_LOAD (up to 2/cycle),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                          addr from load FIFO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otherwise                → MEM_NONE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407408"/>
            <a:ext cx="5577840" cy="141732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50" b="1">
                <a:solidFill>
                  <a:srgbClr val="1F3A5F"/>
                </a:solidFill>
              </a:rPr>
              <a:t>Rule 3   Port-0-only overrides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exception.valid &amp; !(debug &amp; BREAKPOINT)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        → ex_valid, cause, tval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csr_commit &amp; op ∈ {WRITE, SET, CLEAR}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        → csr_we, reconstruct csr_wdata</a:t>
            </a:r>
          </a:p>
          <a:p>
            <a:pPr algn="l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(both always reported on the OLDER port 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commit_log_pkt_t  —  packed bit layout (MSB-first)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One retired-instruction record. A valid[2] mask + two records form a commit_log_beat_t.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507492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77240"/>
                <a:gridCol w="2880360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priv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privilege  M / S / U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debug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debug-mode flag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ex_valid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exception present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retired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commit_ack → emit line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compressed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RVC 16-bit instr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we</a:t>
                      </a:r>
                    </a:p>
                  </a:txBody>
                  <a:tcPr>
                    <a:solidFill>
                      <a:srgbClr val="DFE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FE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wrote a register</a:t>
                      </a:r>
                    </a:p>
                  </a:txBody>
                  <a:tcPr>
                    <a:solidFill>
                      <a:srgbClr val="DFEF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rd_fpr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dest is FP register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rd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dest register index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pc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program counter (XLEN)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instr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raw instruction word</a:t>
                      </a:r>
                    </a:p>
                  </a:txBody>
                  <a:tcPr>
                    <a:solidFill>
                      <a:srgbClr val="DCEA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46520" y="1417320"/>
          <a:ext cx="507492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77240"/>
                <a:gridCol w="2880360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wdata</a:t>
                      </a:r>
                    </a:p>
                  </a:txBody>
                  <a:tcPr>
                    <a:solidFill>
                      <a:srgbClr val="DFE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FEF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committed result (XLEN)</a:t>
                      </a:r>
                    </a:p>
                  </a:txBody>
                  <a:tcPr>
                    <a:solidFill>
                      <a:srgbClr val="DFEF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exception cause (XLEN)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tval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trap value (XLEN)</a:t>
                      </a:r>
                    </a:p>
                  </a:txBody>
                  <a:tcPr>
                    <a:solidFill>
                      <a:srgbClr val="FBE5E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mem_op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NONE / LOAD / STORE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mem_addr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physical address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mem_data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value loaded / stored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mem_size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B / H / W / D</a:t>
                      </a:r>
                    </a:p>
                  </a:txBody>
                  <a:tcPr>
                    <a:solidFill>
                      <a:srgbClr val="FCEE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csr_we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a CSR was written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csr_addr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CSR address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csr_wdata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40404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CSR value (pre-WARL, XLEN)</a:t>
                      </a:r>
                    </a:p>
                  </a:txBody>
                  <a:tcPr>
                    <a:solidFill>
                      <a:srgbClr val="EEE6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806440"/>
            <a:ext cx="5074920" cy="713232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>record width = 510 bits  @ XLEN=64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Spike core fields priv…tval = 301  ·  memory +132  ·  CSR +77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5806440"/>
            <a:ext cx="5074920" cy="713232"/>
          </a:xfrm>
          <a:prstGeom prst="roundRect">
            <a:avLst/>
          </a:prstGeom>
          <a:solidFill>
            <a:srgbClr val="E9EC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>commit_log_beat_t = valid[2] + 2 × pkt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= 1022 bits  ·  port 0 = older instruction (program order)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Address-FIFO re-alignment  (instr_tracer_addr_fifo)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The LSU generates addresses out of program order; bounded FIFOs realign each to the retiring instruction.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286000" cy="1143000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LSU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store_unit / load_unit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generates paddr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OUT of program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298448"/>
            <a:ext cx="42062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</a:rPr>
              <a:t>store / load address FIFO   (depth 16)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627632"/>
            <a:ext cx="804672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3168" y="1627632"/>
            <a:ext cx="804672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14416" y="1627632"/>
            <a:ext cx="804672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1627632"/>
            <a:ext cx="804672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1627632"/>
            <a:ext cx="804672" cy="77724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50592"/>
            <a:ext cx="8046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 i="0">
                <a:solidFill>
                  <a:srgbClr val="2E6DB4"/>
                </a:solidFill>
              </a:rPr>
              <a:t>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2450592"/>
            <a:ext cx="8046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 i="0">
                <a:solidFill>
                  <a:srgbClr val="2E6DB4"/>
                </a:solidFill>
              </a:rPr>
              <a:t>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417320"/>
            <a:ext cx="2377440" cy="114300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Beat builder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pops the oldest entry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for the retiring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load / store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1993392"/>
            <a:ext cx="1170432" cy="0"/>
          </a:xfrm>
          <a:prstGeom prst="line">
            <a:avLst/>
          </a:prstGeom>
          <a:ln w="30480">
            <a:solidFill>
              <a:srgbClr val="C4761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0" y="1645920"/>
            <a:ext cx="11887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1" i="0">
                <a:solidFill>
                  <a:srgbClr val="C4761C"/>
                </a:solidFill>
              </a:rPr>
              <a:t>push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83879" y="1993392"/>
            <a:ext cx="1143001" cy="0"/>
          </a:xfrm>
          <a:prstGeom prst="line">
            <a:avLst/>
          </a:prstGeom>
          <a:ln w="30480">
            <a:solidFill>
              <a:srgbClr val="C4761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83879" y="1645920"/>
            <a:ext cx="11887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 i="0">
                <a:solidFill>
                  <a:srgbClr val="C4761C"/>
                </a:solidFill>
              </a:rPr>
              <a:t>pop @ commit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11247120" cy="315468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500" b="1">
                <a:solidFill>
                  <a:srgbClr val="1F3A5F"/>
                </a:solidFill>
              </a:rPr>
              <a:t>How it works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04040"/>
                </a:solidFill>
              </a:rPr>
              <a:t>• push  —  store: st_valid_i pushes {paddr, data, size};   load: ld_valid_i &amp; ~ld_kill_i pushes {paddr, size}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04040"/>
                </a:solidFill>
              </a:rPr>
              <a:t>• pop @ commit  —  STORE (non-AMO) pops 1;   LOAD pops 0..2 (two loads may retire per cycle) → exposes data0_o &amp; data1_o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04040"/>
                </a:solidFill>
              </a:rPr>
              <a:t>• AMOs report fu == STORE but never push the store buffer → they must NOT pop  (queue stays aligned)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04040"/>
                </a:solidFill>
              </a:rPr>
              <a:t>• byte_ror64 undoes CVA6 data_align (rotate-left by addr[2:0]) so mem_data carries the natural stored value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04040"/>
                </a:solidFill>
              </a:rPr>
              <a:t>• flush_addr_i clears the queue on a pipeline flush (branch mispredict / exception)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04040"/>
                </a:solidFill>
              </a:rPr>
              <a:t>• depth = 2^AW = 16, a power of two → natural pointer wrap-around (no occupancy compare needed)</a:t>
            </a:r>
          </a:p>
          <a:p>
            <a:pPr algn="l">
              <a:spcBef>
                <a:spcPts val="100"/>
              </a:spcBef>
            </a:pPr>
            <a:r>
              <a:rPr sz="1150">
                <a:solidFill>
                  <a:srgbClr val="404040"/>
                </a:solidFill>
              </a:rPr>
              <a:t>• over / underflow → overflow_o : a mem token may be misaligned, trace no longer address-accurate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Worked example  —  anatomy of a Spike commit-log line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How packed fields become Spike-format ASCII (printed by the sim sink or the host decoder).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960120"/>
          </a:xfrm>
          <a:prstGeom prst="rect">
            <a:avLst/>
          </a:prstGeom>
          <a:solidFill>
            <a:srgbClr val="1B2028"/>
          </a:solidFill>
          <a:ln w="19050">
            <a:solidFill>
              <a:srgbClr val="1B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/>
            </a:r>
            <a:r>
              <a:rPr sz="1250">
                <a:solidFill>
                  <a:srgbClr val="8CE09A"/>
                </a:solidFill>
                <a:latin typeface="Consolas"/>
              </a:rPr>
              <a:t>0 0x0000000080002a40 (0x0007a283) x 5 0x000000000000002a mem 0x0000000080004000</a:t>
            </a:r>
          </a:p>
          <a:p>
            <a:r>
              <a:rPr sz="1250">
                <a:solidFill>
                  <a:srgbClr val="8CE09A"/>
                </a:solidFill>
                <a:latin typeface="Consolas"/>
              </a:rPr>
              <a:t>3 0x0000000080000100 (0x30529073) c773_mtvec 0x0000000080000200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42316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783080"/>
                <a:gridCol w="283464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← field(s)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0  / 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priv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decimal: U=0, S=1, M=3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0x…2a40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pc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0x + 16 hex digits (zero-padded)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(0x0007a283)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instr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instr[1:0]=2'b11 → 8-hex; RVC → (0x____)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x 5 0x…2a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rd · we · wdata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'x'/'f'+idx; printed when rd_fpr or rd≠0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mem 0x…4000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mem_op =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load: addr only (value shown as the rd write)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A5F"/>
                          </a:solidFill>
                          <a:latin typeface="Consolas"/>
                        </a:defRPr>
                      </a:pPr>
                      <a:r>
                        <a:t>c773_mtvec 0x…200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04040"/>
                          </a:solidFill>
                        </a:defRPr>
                      </a:pPr>
                      <a:r>
                        <a:t>csr_we/addr/wdata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04040"/>
                          </a:solidFill>
                        </a:defRPr>
                      </a:pPr>
                      <a:r>
                        <a:t>c&lt;dec-addr&gt;_&lt;name&gt;;  name via csr_name()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2423160"/>
            <a:ext cx="4069080" cy="274320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300" b="1">
                <a:solidFill>
                  <a:srgbClr val="1F3A5F"/>
                </a:solidFill>
              </a:rPr>
              <a:t>Formatting rules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• line emitted when retired (commit_ack)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   &amp; !debug_mode — NOT gated by exceptions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• priv printed in decimal (M=3, S=1, U=0)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• pc / values: 0x + 16 hex digits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   (spikeCommitLog hardcodes logic[63:0])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• RVC if instr[1:0]≠2'b11 → (0x____)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• STORE → mem 0x&lt;addr&gt; 0x&lt;data&gt;;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   LOAD → mem 0x&lt;addr&gt;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• reg spacing: Spike 'x 5' vs ours 'x5' —</a:t>
            </a:r>
          </a:p>
          <a:p>
            <a:pPr algn="l">
              <a:spcBef>
                <a:spcPts val="100"/>
              </a:spcBef>
            </a:pPr>
            <a:r>
              <a:rPr sz="1000">
                <a:solidFill>
                  <a:srgbClr val="404040"/>
                </a:solidFill>
              </a:rPr>
              <a:t>   compare_spike_log.py normalizes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Integration into CVA6  —  non-invasive  bind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instr_tracer_synth_bind.sv attaches the tracer to every `ariane` core without editing the CVA6 submodule.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24128"/>
            <a:ext cx="237744" cy="237744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005840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synthesizable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7732" y="1024128"/>
            <a:ext cx="237744" cy="237744"/>
          </a:xfrm>
          <a:prstGeom prst="roundRect">
            <a:avLst/>
          </a:prstGeom>
          <a:solidFill>
            <a:srgbClr val="FCE7CE"/>
          </a:solidFill>
          <a:ln w="1587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0340" y="1005840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simulation-only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024128"/>
            <a:ext cx="237744" cy="237744"/>
          </a:xfrm>
          <a:prstGeom prst="roundRect">
            <a:avLst/>
          </a:prstGeom>
          <a:solidFill>
            <a:srgbClr val="EAEAEA"/>
          </a:solidFill>
          <a:ln w="1587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005840"/>
            <a:ext cx="2377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output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508760"/>
            <a:ext cx="9235440" cy="1417320"/>
          </a:xfrm>
          <a:prstGeom prst="roundRect">
            <a:avLst/>
          </a:prstGeom>
          <a:solidFill>
            <a:srgbClr val="E9EC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1F3A5F"/>
                </a:solidFill>
              </a:rPr>
              <a:t>module  ariane   (CVA6 core)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IF → ID → Issue → EX → Commit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commit_instr_id_commit  commit_ack  waddr/wdata_commit_id  we_gpr/we_fpr  priv_lvl  debug_mode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  <a:latin typeface="Consolas"/>
              </a:rPr>
              <a:t>commit_stage_i.exception_o   csr_*_commit_*   ex_stage_i.lsu_i.{i_store_unit, i_load_unit}.*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9904" y="2926080"/>
            <a:ext cx="0" cy="502920"/>
          </a:xfrm>
          <a:prstGeom prst="line">
            <a:avLst/>
          </a:prstGeom>
          <a:ln w="3810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3640" y="2944368"/>
            <a:ext cx="50292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bind ariane instr_tracer_synth_tap  (resolved in ariane scope; core untouched)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520440"/>
            <a:ext cx="9235440" cy="1874519"/>
          </a:xfrm>
          <a:prstGeom prst="roundRect">
            <a:avLst/>
          </a:prstGeom>
          <a:solidFill>
            <a:srgbClr val="FDF3E3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611880"/>
            <a:ext cx="8229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 i="0">
                <a:solidFill>
                  <a:srgbClr val="E08A1E"/>
                </a:solidFill>
              </a:rPr>
              <a:t>instr_tracer_synth_tap   ( `ifndef SYNTHESIS  —  simulation wrapper 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4069080"/>
            <a:ext cx="3383280" cy="1097280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50" b="1">
                <a:solidFill>
                  <a:srgbClr val="1F3A5F"/>
                </a:solidFill>
              </a:rPr>
              <a:t>instr_tracer_synth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DUT — synthesizable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capture + pack + FIFO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069080"/>
            <a:ext cx="3383280" cy="1097280"/>
          </a:xfrm>
          <a:prstGeom prst="roundRect">
            <a:avLst/>
          </a:prstGeom>
          <a:solidFill>
            <a:srgbClr val="FCE7CE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50" b="1">
                <a:solidFill>
                  <a:srgbClr val="1F3A5F"/>
                </a:solidFill>
              </a:rPr>
              <a:t>instr_tracer_synth_sink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models the trace consumer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spike_commit_str() + $fwrite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0" y="4434840"/>
            <a:ext cx="1645920" cy="0"/>
          </a:xfrm>
          <a:prstGeom prst="line">
            <a:avLst/>
          </a:prstGeom>
          <a:ln w="3175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20640" y="4069080"/>
            <a:ext cx="19202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50" b="0" i="0">
                <a:solidFill>
                  <a:srgbClr val="2E6DB4"/>
                </a:solidFill>
              </a:rPr>
              <a:t>trace_valid / beat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257800" y="4892040"/>
            <a:ext cx="1645920" cy="0"/>
          </a:xfrm>
          <a:prstGeom prst="line">
            <a:avLst/>
          </a:prstGeom>
          <a:ln w="22225">
            <a:solidFill>
              <a:srgbClr val="E08A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640" y="4864608"/>
            <a:ext cx="19202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50" b="0" i="0">
                <a:solidFill>
                  <a:srgbClr val="E08A1E"/>
                </a:solidFill>
              </a:rPr>
              <a:t>trace_ready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0" y="5394960"/>
            <a:ext cx="0" cy="411480"/>
          </a:xfrm>
          <a:prstGeom prst="line">
            <a:avLst/>
          </a:prstGeom>
          <a:ln w="3175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olded Corner 21"/>
          <p:cNvSpPr/>
          <p:nvPr/>
        </p:nvSpPr>
        <p:spPr>
          <a:xfrm>
            <a:off x="6903720" y="5806440"/>
            <a:ext cx="3383280" cy="685800"/>
          </a:xfrm>
          <a:prstGeom prst="foldedCorner">
            <a:avLst/>
          </a:prstGeom>
          <a:solidFill>
            <a:srgbClr val="EAEAEA"/>
          </a:solidFill>
          <a:ln w="1905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1F3A5F"/>
                </a:solidFill>
              </a:rPr>
              <a:t>trace_hart_0_commit.synth.log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404040"/>
                </a:solidFill>
              </a:rPr>
              <a:t>Spike commit-log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97880"/>
            <a:ext cx="51206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 i="1">
                <a:solidFill>
                  <a:srgbClr val="404040"/>
                </a:solidFill>
              </a:rPr>
              <a:t>(+ trace_hart_0.pkt.hex when EmitPktHex=1, for the real-silicon binary path)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Where each signal is collected in the CVA6 pipeline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bind resolves these expressions in the `ariane` scope (instr_tracer_synth_bind.sv); the vector taps reach into Ara at the ara_system level (tb_ara_system_trace.sv).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60704"/>
            <a:ext cx="8229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</a:rPr>
              <a:t>module  ariane   (CVA6 core)  —  bind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051560" cy="896112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1F3A5F"/>
                </a:solidFill>
              </a:rPr>
              <a:t>IF · 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417320"/>
            <a:ext cx="1051560" cy="896112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1F3A5F"/>
                </a:solidFill>
              </a:rPr>
              <a:t>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417320"/>
            <a:ext cx="1371600" cy="896112"/>
          </a:xfrm>
          <a:prstGeom prst="roundRect">
            <a:avLst/>
          </a:prstGeom>
          <a:solidFill>
            <a:srgbClr val="ECEEF2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1F3A5F"/>
                </a:solidFill>
              </a:rPr>
              <a:t>Issue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1828800" cy="896112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EX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ALU · MUL · FPU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lsu_i  ·  csr_regfile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2240280" cy="896112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Commit stage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commit_ack · exception_o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417320"/>
            <a:ext cx="2926080" cy="896112"/>
          </a:xfrm>
          <a:prstGeom prst="roundRect">
            <a:avLst/>
          </a:prstGeom>
          <a:solidFill>
            <a:srgbClr val="D9F0D3"/>
          </a:solidFill>
          <a:ln w="19050">
            <a:solidFill>
              <a:srgbClr val="4C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Ara vector unit  (i_ara)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i_dispatcher · gen_lanes[L].i_lane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1865376"/>
            <a:ext cx="137160" cy="0"/>
          </a:xfrm>
          <a:prstGeom prst="line">
            <a:avLst/>
          </a:prstGeom>
          <a:ln w="2286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06040" y="1865376"/>
            <a:ext cx="137160" cy="0"/>
          </a:xfrm>
          <a:prstGeom prst="line">
            <a:avLst/>
          </a:prstGeom>
          <a:ln w="2286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1865376"/>
            <a:ext cx="137160" cy="0"/>
          </a:xfrm>
          <a:prstGeom prst="line">
            <a:avLst/>
          </a:prstGeom>
          <a:ln w="2286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1865376"/>
            <a:ext cx="137160" cy="0"/>
          </a:xfrm>
          <a:prstGeom prst="line">
            <a:avLst/>
          </a:prstGeom>
          <a:ln w="2286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58200" y="1865376"/>
            <a:ext cx="457200" cy="0"/>
          </a:xfrm>
          <a:prstGeom prst="line">
            <a:avLst/>
          </a:prstGeom>
          <a:ln w="27940">
            <a:solidFill>
              <a:srgbClr val="4C9A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1188720"/>
            <a:ext cx="9144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b="1" i="0">
                <a:solidFill>
                  <a:srgbClr val="4C9A3F"/>
                </a:solidFill>
              </a:rPr>
              <a:t>fu=ACCEL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0" y="1481328"/>
            <a:ext cx="310896" cy="310896"/>
          </a:xfrm>
          <a:prstGeom prst="ellipse">
            <a:avLst/>
          </a:prstGeom>
          <a:solidFill>
            <a:srgbClr val="7846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5687568" y="1481328"/>
            <a:ext cx="310896" cy="310896"/>
          </a:xfrm>
          <a:prstGeom prst="ellipse">
            <a:avLst/>
          </a:prstGeom>
          <a:solidFill>
            <a:srgbClr val="C476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6272784" y="1481328"/>
            <a:ext cx="310896" cy="310896"/>
          </a:xfrm>
          <a:prstGeom prst="ellipse">
            <a:avLst/>
          </a:prstGeom>
          <a:solidFill>
            <a:srgbClr val="2E6DB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1481328"/>
            <a:ext cx="310896" cy="310896"/>
          </a:xfrm>
          <a:prstGeom prst="ellipse">
            <a:avLst/>
          </a:prstGeom>
          <a:solidFill>
            <a:srgbClr val="4C9A3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246120"/>
            <a:ext cx="2788920" cy="2907792"/>
          </a:xfrm>
          <a:prstGeom prst="roundRect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200" b="1">
                <a:solidFill>
                  <a:srgbClr val="1F3A5F"/>
                </a:solidFill>
              </a:rPr>
              <a:t>①  COMMIT STAGE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commit_instr_id_commit → pc·instr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  [p].ex.tval[31:0] → instr word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commit_ack → retired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waddr/wdata_commit_id → rd·wdata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we_gpr/we_fpr_commit_id → we·rd_fpr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priv_lvl · debug_mode → priv·debug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commit_stage_i.exception_o → trap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246120"/>
            <a:ext cx="2788920" cy="2907792"/>
          </a:xfrm>
          <a:prstGeom prst="roundRect">
            <a:avLst/>
          </a:prstGeom>
          <a:solidFill>
            <a:srgbClr val="EEE6F7"/>
          </a:solidFill>
          <a:ln w="19050">
            <a:solidFill>
              <a:srgbClr val="784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>
                <a:solidFill>
                  <a:srgbClr val="1F3A5F"/>
                </a:solidFill>
              </a:rPr>
              <a:t>②  CSR WRITE   “c&lt;a&gt;_&lt;n&gt; 0x..”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csr_commit_commit_ex → pulse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csr_op_commit_csr → W/S/C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csr_addr_ex_csr → csr_addr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csr_wdata_commit_csr → operand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csr_rdata_csr_commit → old val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pre-WARL → --ignore-csr-val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246120"/>
            <a:ext cx="2788920" cy="2907792"/>
          </a:xfrm>
          <a:prstGeom prst="roundRect">
            <a:avLst/>
          </a:prstGeom>
          <a:solidFill>
            <a:srgbClr val="FCEEDC"/>
          </a:solidFill>
          <a:ln w="19050">
            <a:solidFill>
              <a:srgbClr val="C476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>
                <a:solidFill>
                  <a:srgbClr val="1F3A5F"/>
                </a:solidFill>
              </a:rPr>
              <a:t>③  LSU MEM   “mem 0x.. 0x..”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ex_stage_i.lsu_i :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store_buffer_i.valid/paddr/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   data/data_size_i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load_unit.req_port_o.tag_valid/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   kill_req/data_size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load_unit.paddr_i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flush_ctrl_ex → flush_addr_i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246120"/>
            <a:ext cx="2907792" cy="2907792"/>
          </a:xfrm>
          <a:prstGeom prst="roundRect">
            <a:avLst/>
          </a:prstGeom>
          <a:solidFill>
            <a:srgbClr val="D9F0D3"/>
          </a:solidFill>
          <a:ln w="19050">
            <a:solidFill>
              <a:srgbClr val="4C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>
                <a:solidFill>
                  <a:srgbClr val="1F3A5F"/>
                </a:solidFill>
              </a:rPr>
              <a:t>④  ARA VECTOR   “v&lt;vd&gt; 0x..”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i_dispatcher.vtype_q.vsew/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   vlmul · vl_q → vsew·vl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gen_lanes[L].i_lane.vrf_wen/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   addr/wdata/be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   → shadow VRF → v[vd] data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404040"/>
                </a:solidFill>
                <a:latin typeface="Consolas"/>
              </a:rPr>
              <a:t>system-level taps (not bind)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272784"/>
            <a:ext cx="1152144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1">
                <a:solidFill>
                  <a:srgbClr val="404040"/>
                </a:solidFill>
              </a:rPr>
              <a:t>Scalar taps: instr_tracer_synth_bind.sv (bind ariane).   Vector taps reach into i_ara, wired at ara_system level (tb_ara_system_trace.sv / exampleinit.sv).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Co-simulation verification flow</a:t>
            </a:r>
          </a:p>
          <a:p>
            <a:pPr>
              <a:defRPr sz="1250">
                <a:solidFill>
                  <a:srgbClr val="C4D4E6"/>
                </a:solidFill>
              </a:defRPr>
            </a:pPr>
            <a:r>
              <a:t>Prove the synthesizable tracer reproduces the same commit log as the golden reference — instruction for instruction.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60520" y="1188720"/>
            <a:ext cx="3886200" cy="1005840"/>
          </a:xfrm>
          <a:prstGeom prst="roundRect">
            <a:avLst/>
          </a:prstGeom>
          <a:solidFill>
            <a:srgbClr val="E9ECF1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RTL simulation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make app=… simc  (QuestaSim)  /  verilate + simv (Verilator)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ara_system + CVA6 + bound tracer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502920" y="1325880"/>
            <a:ext cx="3108960" cy="731520"/>
          </a:xfrm>
          <a:prstGeom prst="foldedCorner">
            <a:avLst/>
          </a:prstGeom>
          <a:solidFill>
            <a:srgbClr val="EAEAEA"/>
          </a:solidFill>
          <a:ln w="1905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1F3A5F"/>
                </a:solidFill>
              </a:rPr>
              <a:t>app.elf / riscv-dv  program.hex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11880" y="1691640"/>
            <a:ext cx="548640" cy="0"/>
          </a:xfrm>
          <a:prstGeom prst="line">
            <a:avLst/>
          </a:prstGeom>
          <a:ln w="28575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lded Corner 6"/>
          <p:cNvSpPr/>
          <p:nvPr/>
        </p:nvSpPr>
        <p:spPr>
          <a:xfrm>
            <a:off x="2788920" y="2788920"/>
            <a:ext cx="3200400" cy="960120"/>
          </a:xfrm>
          <a:prstGeom prst="foldedCorner">
            <a:avLst/>
          </a:prstGeom>
          <a:solidFill>
            <a:srgbClr val="D9F0D3"/>
          </a:solidFill>
          <a:ln w="19050">
            <a:solidFill>
              <a:srgbClr val="4C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trace_hart_0_commit.log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GOLDEN — original sim tracer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(QuestaSim only)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6263640" y="2788920"/>
            <a:ext cx="3200400" cy="960120"/>
          </a:xfrm>
          <a:prstGeom prst="foldedCorner">
            <a:avLst/>
          </a:prstGeom>
          <a:solidFill>
            <a:srgbClr val="DCEAFB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trace_hart_0_commit.synth.log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DUT output — synth tracer sink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(Spike commit-log format)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023360" y="2194560"/>
            <a:ext cx="1051560" cy="594360"/>
          </a:xfrm>
          <a:prstGeom prst="line">
            <a:avLst/>
          </a:prstGeom>
          <a:ln w="25400">
            <a:solidFill>
              <a:srgbClr val="4C9A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2194560"/>
            <a:ext cx="1097280" cy="594360"/>
          </a:xfrm>
          <a:prstGeom prst="line">
            <a:avLst/>
          </a:prstGeom>
          <a:ln w="2540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4160520"/>
            <a:ext cx="2743200" cy="777240"/>
          </a:xfrm>
          <a:prstGeom prst="roundRect">
            <a:avLst/>
          </a:prstGeom>
          <a:solidFill>
            <a:srgbClr val="EFEFEF"/>
          </a:solidFill>
          <a:ln w="190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1F3A5F"/>
                </a:solidFill>
              </a:rPr>
              <a:t>diff</a:t>
            </a:r>
          </a:p>
          <a:p>
            <a:pPr algn="ctr">
              <a:spcBef>
                <a:spcPts val="100"/>
              </a:spcBef>
            </a:pPr>
            <a:r>
              <a:rPr sz="950">
                <a:solidFill>
                  <a:srgbClr val="404040"/>
                </a:solidFill>
              </a:rPr>
              <a:t>byte-for-byte equal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0" y="3749039"/>
            <a:ext cx="1280160" cy="411481"/>
          </a:xfrm>
          <a:prstGeom prst="line">
            <a:avLst/>
          </a:prstGeom>
          <a:ln w="25400">
            <a:solidFill>
              <a:srgbClr val="4C9A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583680" y="3749039"/>
            <a:ext cx="1280160" cy="411481"/>
          </a:xfrm>
          <a:prstGeom prst="line">
            <a:avLst/>
          </a:prstGeom>
          <a:ln w="25400">
            <a:solidFill>
              <a:srgbClr val="2E6D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5166360"/>
            <a:ext cx="2011680" cy="594360"/>
          </a:xfrm>
          <a:prstGeom prst="roundRect">
            <a:avLst/>
          </a:prstGeom>
          <a:solidFill>
            <a:srgbClr val="D9F0D3"/>
          </a:solidFill>
          <a:ln w="19050">
            <a:solidFill>
              <a:srgbClr val="4C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3A5F"/>
                </a:solidFill>
              </a:rPr>
              <a:t>PASS / FAIL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937760"/>
            <a:ext cx="0" cy="2286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29600" y="2331720"/>
            <a:ext cx="18288" cy="36576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65760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</a:rPr>
              <a:t>Alternative golden 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788920"/>
            <a:ext cx="3520440" cy="822960"/>
          </a:xfrm>
          <a:prstGeom prst="roundRect">
            <a:avLst/>
          </a:prstGeom>
          <a:solidFill>
            <a:srgbClr val="D9F0D3"/>
          </a:solidFill>
          <a:ln w="19050">
            <a:solidFill>
              <a:srgbClr val="4C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Spike ISS co-simulation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404040"/>
                </a:solidFill>
                <a:latin typeface="Consolas"/>
              </a:rPr>
              <a:t>spike --log-commits app.elf → spike.log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95560" y="3611880"/>
            <a:ext cx="0" cy="365759"/>
          </a:xfrm>
          <a:prstGeom prst="line">
            <a:avLst/>
          </a:prstGeom>
          <a:ln w="25400">
            <a:solidFill>
              <a:srgbClr val="4C9A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58200" y="3977639"/>
            <a:ext cx="3520440" cy="914400"/>
          </a:xfrm>
          <a:prstGeom prst="roundRect">
            <a:avLst/>
          </a:prstGeom>
          <a:solidFill>
            <a:srgbClr val="FCE7CE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1F3A5F"/>
                </a:solidFill>
              </a:rPr>
              <a:t>compare_spike_log.py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404040"/>
                </a:solidFill>
              </a:rPr>
              <a:t>drops disasm / boot-ROM, normalizes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404040"/>
                </a:solidFill>
              </a:rPr>
              <a:t>regs &amp; CSRs (--ignore-csr-val …)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95560" y="4892040"/>
            <a:ext cx="0" cy="32004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0" y="5212080"/>
            <a:ext cx="2286000" cy="548640"/>
          </a:xfrm>
          <a:prstGeom prst="roundRect">
            <a:avLst/>
          </a:prstGeom>
          <a:solidFill>
            <a:srgbClr val="D9F0D3"/>
          </a:solidFill>
          <a:ln w="19050">
            <a:solidFill>
              <a:srgbClr val="4C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>PASS / 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989320"/>
            <a:ext cx="35661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1">
                <a:solidFill>
                  <a:srgbClr val="404040"/>
                </a:solidFill>
              </a:rPr>
              <a:t>Silicon path: pkt.hex → spike_trace_decode.py → .log → diff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Files, run commands &amp;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7607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</a:rPr>
              <a:t>Source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instr_tracer_synth_pkg.sv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59636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binary record format (commit_log_pkt_t / beat)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instr_tracer_synth.sv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5124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the tracer: capture, pack, FIFO, ready/valid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6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instr_tracer_addr_fifo.sv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10612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bounded store/load address-tracking FIFO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9504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instr_tracer_synth_sink.sv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86100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sim sink: prints Spike log directly in 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64992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instr_tracer_synth_tap.sv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1588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sim wrapper: tracer + sink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instr_tracer_synth_bind.sv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37076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non-invasive bind into `ariane`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15968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tb_ara_system_trace.sv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12564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standalone ara_system + tracer testbench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91456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scripts/spike_trace_decode.py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8052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off-chip binary → Spike ASCII 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66944"/>
            <a:ext cx="3657600" cy="2560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2E6DB4"/>
                </a:solidFill>
              </a:rPr>
              <a:t>scripts/compare_spike_log.py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63540"/>
            <a:ext cx="548640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compare against spike --log-commits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051560"/>
            <a:ext cx="53035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</a:rPr>
              <a:t>Run (fast path, machine already set up)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63040"/>
            <a:ext cx="5166360" cy="1737360"/>
          </a:xfrm>
          <a:prstGeom prst="rect">
            <a:avLst/>
          </a:prstGeom>
          <a:solidFill>
            <a:srgbClr val="1B2028"/>
          </a:solidFill>
          <a:ln w="19050">
            <a:solidFill>
              <a:srgbClr val="1B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64008" tIns="91440" bIns="27432"/>
          <a:lstStyle/>
          <a:p>
            <a:pPr algn="ctr"/>
            <a:r>
              <a:rPr sz="1300" b="1">
                <a:solidFill>
                  <a:srgbClr val="1F3A5F"/>
                </a:solidFill>
              </a:rPr>
              <a:t/>
            </a:r>
            <a:r>
              <a:rPr sz="1100">
                <a:solidFill>
                  <a:srgbClr val="8CE09A"/>
                </a:solidFill>
                <a:latin typeface="Consolas"/>
              </a:rPr>
              <a:t>make -C apps bin/hello_world</a:t>
            </a:r>
          </a:p>
          <a:p>
            <a:r>
              <a:rPr sz="1100">
                <a:solidFill>
                  <a:srgbClr val="8CE09A"/>
                </a:solidFill>
                <a:latin typeface="Consolas"/>
              </a:rPr>
              <a:t>make -C hardware app=hello_world simc</a:t>
            </a:r>
          </a:p>
          <a:p>
            <a:r>
              <a:rPr sz="1100">
                <a:solidFill>
                  <a:srgbClr val="8CE09A"/>
                </a:solidFill>
                <a:latin typeface="Consolas"/>
              </a:rPr>
              <a:t>cd hardware/build</a:t>
            </a:r>
          </a:p>
          <a:p>
            <a:r>
              <a:rPr sz="1100">
                <a:solidFill>
                  <a:srgbClr val="8CE09A"/>
                </a:solidFill>
                <a:latin typeface="Consolas"/>
              </a:rPr>
              <a:t>diff trace_hart_0_commit.log \</a:t>
            </a:r>
          </a:p>
          <a:p>
            <a:r>
              <a:rPr sz="1100">
                <a:solidFill>
                  <a:srgbClr val="8CE09A"/>
                </a:solidFill>
                <a:latin typeface="Consolas"/>
              </a:rPr>
              <a:t>     trace_hart_0_commit.synth.log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530352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</a:rPr>
              <a:t>Caveats (non-invasive tracer)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6DB4"/>
                </a:solidFill>
              </a:rPr>
              <a:t>▸ </a:t>
            </a:r>
            <a:r>
              <a:rPr sz="1050">
                <a:solidFill>
                  <a:srgbClr val="404040"/>
                </a:solidFill>
              </a:rPr>
              <a:t>CSR write value is reconstructed PRE-WARL mask → WARL CSRs may differ from Spike's post-WARL value (use --ignore-csr-val).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9884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6DB4"/>
                </a:solidFill>
              </a:rPr>
              <a:t>▸ </a:t>
            </a:r>
            <a:r>
              <a:rPr sz="1050">
                <a:solidFill>
                  <a:srgbClr val="404040"/>
                </a:solidFill>
              </a:rPr>
              <a:t>Store data is un-rotated (byte_ror64) to undo CVA6 data_align before slicing.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57216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6DB4"/>
                </a:solidFill>
              </a:rPr>
              <a:t>▸ </a:t>
            </a:r>
            <a:r>
              <a:rPr sz="1050">
                <a:solidFill>
                  <a:srgbClr val="404040"/>
                </a:solidFill>
              </a:rPr>
              <a:t>Exceptions/interrupts always reported on port 0; debug-mode BREAKPOINT suppressed.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815583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6DB4"/>
                </a:solidFill>
              </a:rPr>
              <a:t>▸ </a:t>
            </a:r>
            <a:r>
              <a:rPr sz="1050">
                <a:solidFill>
                  <a:srgbClr val="404040"/>
                </a:solidFill>
              </a:rPr>
              <a:t>overflow_o pulses if the trace FIFO (or an addr FIFO) over/underflows → trace no longer gap-free; raise FifoDepth.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